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2.jpg" ContentType="image/jpeg"/>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18.jpg" ContentType="image/jpeg"/>
  <Override PartName="/ppt/media/image19.jpg" ContentType="image/jpeg"/>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1"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6611D7-A8C6-441C-A27C-0A67F00185B3}" v="999" dt="2025-10-03T20:41:06.245"/>
    <p1510:client id="{A1810875-6E78-EB41-A871-3C94E4771A64}" v="417" dt="2025-10-04T02:11:26.566"/>
    <p1510:client id="{D480B067-33D5-74B2-04DE-438148A1CC5D}" v="66" dt="2025-10-04T06:12:37.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8" d="100"/>
          <a:sy n="88" d="100"/>
        </p:scale>
        <p:origin x="26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9.jp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image" Target="../media/image15.jpg"/><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9.jp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image" Target="../media/image15.jpg"/><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18B548-EF41-4083-AAD7-EF01062E8342}"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274CFEE6-CB6A-4916-ABEA-A04881EB9E8E}">
      <dgm:prSet custT="1"/>
      <dgm:spPr>
        <a:solidFill>
          <a:schemeClr val="accent6">
            <a:lumMod val="40000"/>
            <a:lumOff val="60000"/>
          </a:schemeClr>
        </a:solidFill>
      </dgm:spPr>
      <dgm:t>
        <a:bodyPr/>
        <a:lstStyle/>
        <a:p>
          <a:pPr rtl="0"/>
          <a:r>
            <a:rPr lang="en-US" sz="3200" b="1" dirty="0" smtClean="0">
              <a:solidFill>
                <a:schemeClr val="tx1"/>
              </a:solidFill>
              <a:latin typeface="Times New Roman" panose="02020603050405020304" pitchFamily="18" charset="0"/>
              <a:cs typeface="Times New Roman" panose="02020603050405020304" pitchFamily="18" charset="0"/>
            </a:rPr>
            <a:t>Impact</a:t>
          </a:r>
          <a:endParaRPr lang="en-IN" sz="3200" dirty="0">
            <a:solidFill>
              <a:schemeClr val="tx1"/>
            </a:solidFill>
            <a:latin typeface="Times New Roman" panose="02020603050405020304" pitchFamily="18" charset="0"/>
            <a:cs typeface="Times New Roman" panose="02020603050405020304" pitchFamily="18" charset="0"/>
          </a:endParaRPr>
        </a:p>
      </dgm:t>
    </dgm:pt>
    <dgm:pt modelId="{CDB91008-707F-4D03-BF4D-0CDBE183BF0E}" type="parTrans" cxnId="{91D76479-F483-47D8-B7C7-29C7742BE683}">
      <dgm:prSet/>
      <dgm:spPr/>
      <dgm:t>
        <a:bodyPr/>
        <a:lstStyle/>
        <a:p>
          <a:endParaRPr lang="en-IN"/>
        </a:p>
      </dgm:t>
    </dgm:pt>
    <dgm:pt modelId="{05BD1DE4-BE9C-4F48-B773-54146F6F4672}" type="sibTrans" cxnId="{91D76479-F483-47D8-B7C7-29C7742BE683}">
      <dgm:prSet/>
      <dgm:spPr/>
      <dgm:t>
        <a:bodyPr/>
        <a:lstStyle/>
        <a:p>
          <a:endParaRPr lang="en-IN"/>
        </a:p>
      </dgm:t>
    </dgm:pt>
    <dgm:pt modelId="{7C9E5A75-01BD-4807-AB86-314705DCD7B8}">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Awareness &amp; Education</a:t>
          </a:r>
          <a:r>
            <a:rPr lang="en-US" sz="1400" dirty="0" smtClean="0">
              <a:solidFill>
                <a:schemeClr val="tx1"/>
              </a:solidFill>
              <a:latin typeface="Times New Roman" panose="02020603050405020304" pitchFamily="18" charset="0"/>
              <a:cs typeface="Times New Roman" panose="02020603050405020304" pitchFamily="18" charset="0"/>
            </a:rPr>
            <a:t> – Raises public understanding of weather unpredictability and its effects on daily life, events, or climate change.</a:t>
          </a:r>
          <a:endParaRPr lang="en-IN" sz="1400" dirty="0">
            <a:solidFill>
              <a:schemeClr val="tx1"/>
            </a:solidFill>
            <a:latin typeface="Times New Roman" panose="02020603050405020304" pitchFamily="18" charset="0"/>
            <a:cs typeface="Times New Roman" panose="02020603050405020304" pitchFamily="18" charset="0"/>
          </a:endParaRPr>
        </a:p>
      </dgm:t>
    </dgm:pt>
    <dgm:pt modelId="{E1BB1931-7A59-4F48-A8E0-56700B9B12C7}" type="parTrans" cxnId="{99C24142-CA35-4D19-84CB-ECA4F9679801}">
      <dgm:prSet/>
      <dgm:spPr/>
      <dgm:t>
        <a:bodyPr/>
        <a:lstStyle/>
        <a:p>
          <a:endParaRPr lang="en-IN"/>
        </a:p>
      </dgm:t>
    </dgm:pt>
    <dgm:pt modelId="{515623D8-C6F2-4310-89B0-80F028F5F4B1}" type="sibTrans" cxnId="{99C24142-CA35-4D19-84CB-ECA4F9679801}">
      <dgm:prSet/>
      <dgm:spPr/>
      <dgm:t>
        <a:bodyPr/>
        <a:lstStyle/>
        <a:p>
          <a:endParaRPr lang="en-IN"/>
        </a:p>
      </dgm:t>
    </dgm:pt>
    <dgm:pt modelId="{9286AF62-7209-4AD8-BE35-60293D956CB3}">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Preparedness</a:t>
          </a:r>
          <a:r>
            <a:rPr lang="en-US" sz="1400" dirty="0" smtClean="0">
              <a:solidFill>
                <a:schemeClr val="tx1"/>
              </a:solidFill>
              <a:latin typeface="Times New Roman" panose="02020603050405020304" pitchFamily="18" charset="0"/>
              <a:cs typeface="Times New Roman" panose="02020603050405020304" pitchFamily="18" charset="0"/>
            </a:rPr>
            <a:t> – Equips individuals/communities with tools to anticipate and adapt to disruptions (whether literal rain or metaphorical obstacles).</a:t>
          </a:r>
          <a:endParaRPr lang="en-IN" sz="1400" dirty="0">
            <a:solidFill>
              <a:schemeClr val="tx1"/>
            </a:solidFill>
            <a:latin typeface="Times New Roman" panose="02020603050405020304" pitchFamily="18" charset="0"/>
            <a:cs typeface="Times New Roman" panose="02020603050405020304" pitchFamily="18" charset="0"/>
          </a:endParaRPr>
        </a:p>
      </dgm:t>
    </dgm:pt>
    <dgm:pt modelId="{2EDD5C68-7005-43E4-A8EE-49424D533221}" type="parTrans" cxnId="{8ED1E399-EF44-4B02-BA46-5A7157F14027}">
      <dgm:prSet/>
      <dgm:spPr/>
      <dgm:t>
        <a:bodyPr/>
        <a:lstStyle/>
        <a:p>
          <a:endParaRPr lang="en-IN"/>
        </a:p>
      </dgm:t>
    </dgm:pt>
    <dgm:pt modelId="{82C34CC6-B71B-4EA1-87AD-216C58D6629C}" type="sibTrans" cxnId="{8ED1E399-EF44-4B02-BA46-5A7157F14027}">
      <dgm:prSet/>
      <dgm:spPr/>
      <dgm:t>
        <a:bodyPr/>
        <a:lstStyle/>
        <a:p>
          <a:endParaRPr lang="en-IN"/>
        </a:p>
      </dgm:t>
    </dgm:pt>
    <dgm:pt modelId="{264148E4-EBFE-456F-A16B-AAE6F0930EAB}">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Innovation &amp; Solutions</a:t>
          </a:r>
          <a:r>
            <a:rPr lang="en-US" sz="1400" dirty="0" smtClean="0">
              <a:solidFill>
                <a:schemeClr val="tx1"/>
              </a:solidFill>
              <a:latin typeface="Times New Roman" panose="02020603050405020304" pitchFamily="18" charset="0"/>
              <a:cs typeface="Times New Roman" panose="02020603050405020304" pitchFamily="18" charset="0"/>
            </a:rPr>
            <a:t> – Encourages new systems, apps, or approaches to forecast, plan, and mitigate risks.</a:t>
          </a:r>
          <a:endParaRPr lang="en-IN" sz="1400" dirty="0">
            <a:solidFill>
              <a:schemeClr val="tx1"/>
            </a:solidFill>
            <a:latin typeface="Times New Roman" panose="02020603050405020304" pitchFamily="18" charset="0"/>
            <a:cs typeface="Times New Roman" panose="02020603050405020304" pitchFamily="18" charset="0"/>
          </a:endParaRPr>
        </a:p>
      </dgm:t>
    </dgm:pt>
    <dgm:pt modelId="{D3F4EB4E-582B-4C3D-963B-2E5649FA6898}" type="parTrans" cxnId="{FC11C56C-5815-4758-B919-E2305E1B75F6}">
      <dgm:prSet/>
      <dgm:spPr/>
      <dgm:t>
        <a:bodyPr/>
        <a:lstStyle/>
        <a:p>
          <a:endParaRPr lang="en-IN"/>
        </a:p>
      </dgm:t>
    </dgm:pt>
    <dgm:pt modelId="{D5A1A0D0-3A34-4D26-A54F-F6E3206318BA}" type="sibTrans" cxnId="{FC11C56C-5815-4758-B919-E2305E1B75F6}">
      <dgm:prSet/>
      <dgm:spPr/>
      <dgm:t>
        <a:bodyPr/>
        <a:lstStyle/>
        <a:p>
          <a:endParaRPr lang="en-IN"/>
        </a:p>
      </dgm:t>
    </dgm:pt>
    <dgm:pt modelId="{4D140C93-8615-4EE5-8E9F-36E4217C8847}">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Community Resilience</a:t>
          </a:r>
          <a:r>
            <a:rPr lang="en-US" sz="1400" dirty="0" smtClean="0">
              <a:solidFill>
                <a:schemeClr val="tx1"/>
              </a:solidFill>
              <a:latin typeface="Times New Roman" panose="02020603050405020304" pitchFamily="18" charset="0"/>
              <a:cs typeface="Times New Roman" panose="02020603050405020304" pitchFamily="18" charset="0"/>
            </a:rPr>
            <a:t> – Strengthens collaboration and collective action when facing disruptions</a:t>
          </a:r>
          <a:r>
            <a:rPr lang="en-US" sz="1500" dirty="0" smtClean="0">
              <a:solidFill>
                <a:schemeClr val="tx1"/>
              </a:solidFill>
            </a:rPr>
            <a:t>.</a:t>
          </a:r>
          <a:endParaRPr lang="en-IN" sz="1500" dirty="0">
            <a:solidFill>
              <a:schemeClr val="tx1"/>
            </a:solidFill>
          </a:endParaRPr>
        </a:p>
      </dgm:t>
    </dgm:pt>
    <dgm:pt modelId="{5A6F2055-F8AC-420B-87FA-A73792F05B70}" type="parTrans" cxnId="{4DCE4BB1-A144-43FB-AE2A-A3ADFE1367E8}">
      <dgm:prSet/>
      <dgm:spPr/>
      <dgm:t>
        <a:bodyPr/>
        <a:lstStyle/>
        <a:p>
          <a:endParaRPr lang="en-IN"/>
        </a:p>
      </dgm:t>
    </dgm:pt>
    <dgm:pt modelId="{75224733-864B-41DA-85E8-DCE0229B3E8D}" type="sibTrans" cxnId="{4DCE4BB1-A144-43FB-AE2A-A3ADFE1367E8}">
      <dgm:prSet/>
      <dgm:spPr/>
      <dgm:t>
        <a:bodyPr/>
        <a:lstStyle/>
        <a:p>
          <a:endParaRPr lang="en-IN"/>
        </a:p>
      </dgm:t>
    </dgm:pt>
    <dgm:pt modelId="{3EF303DA-BE74-4407-B07D-214423C7284F}">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Cultural Shift</a:t>
          </a:r>
          <a:r>
            <a:rPr lang="en-US" sz="1400" dirty="0" smtClean="0">
              <a:solidFill>
                <a:schemeClr val="tx1"/>
              </a:solidFill>
              <a:latin typeface="Times New Roman" panose="02020603050405020304" pitchFamily="18" charset="0"/>
              <a:cs typeface="Times New Roman" panose="02020603050405020304" pitchFamily="18" charset="0"/>
            </a:rPr>
            <a:t> – Helps normalize adaptability and optimism in the face of uncertainty.</a:t>
          </a:r>
          <a:endParaRPr lang="en-IN" sz="1400" dirty="0">
            <a:solidFill>
              <a:schemeClr val="tx1"/>
            </a:solidFill>
            <a:latin typeface="Times New Roman" panose="02020603050405020304" pitchFamily="18" charset="0"/>
            <a:cs typeface="Times New Roman" panose="02020603050405020304" pitchFamily="18" charset="0"/>
          </a:endParaRPr>
        </a:p>
      </dgm:t>
    </dgm:pt>
    <dgm:pt modelId="{FAFB74D5-79BB-4E2A-BC48-835B0630D96F}" type="parTrans" cxnId="{393475C0-77C1-47B5-9428-83D19964BDB3}">
      <dgm:prSet/>
      <dgm:spPr/>
      <dgm:t>
        <a:bodyPr/>
        <a:lstStyle/>
        <a:p>
          <a:endParaRPr lang="en-IN"/>
        </a:p>
      </dgm:t>
    </dgm:pt>
    <dgm:pt modelId="{F2972EF6-F6F4-43BB-95FF-1EC1E15F2910}" type="sibTrans" cxnId="{393475C0-77C1-47B5-9428-83D19964BDB3}">
      <dgm:prSet/>
      <dgm:spPr/>
      <dgm:t>
        <a:bodyPr/>
        <a:lstStyle/>
        <a:p>
          <a:endParaRPr lang="en-IN"/>
        </a:p>
      </dgm:t>
    </dgm:pt>
    <dgm:pt modelId="{196A5EE4-51FF-4AAB-B685-2F6405C4F48D}" type="pres">
      <dgm:prSet presAssocID="{A618B548-EF41-4083-AAD7-EF01062E8342}" presName="linearFlow" presStyleCnt="0">
        <dgm:presLayoutVars>
          <dgm:dir/>
          <dgm:resizeHandles val="exact"/>
        </dgm:presLayoutVars>
      </dgm:prSet>
      <dgm:spPr/>
      <dgm:t>
        <a:bodyPr/>
        <a:lstStyle/>
        <a:p>
          <a:endParaRPr lang="en-IN"/>
        </a:p>
      </dgm:t>
    </dgm:pt>
    <dgm:pt modelId="{D56883EA-C950-4838-A7D6-6BEE39497306}" type="pres">
      <dgm:prSet presAssocID="{274CFEE6-CB6A-4916-ABEA-A04881EB9E8E}" presName="composite" presStyleCnt="0"/>
      <dgm:spPr/>
    </dgm:pt>
    <dgm:pt modelId="{214A376B-C47A-44F9-BDF2-83D572405F6D}" type="pres">
      <dgm:prSet presAssocID="{274CFEE6-CB6A-4916-ABEA-A04881EB9E8E}" presName="imgShp" presStyleLbl="fgImgPlac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endParaRPr lang="en-IN"/>
        </a:p>
      </dgm:t>
    </dgm:pt>
    <dgm:pt modelId="{E8537BB5-FC4A-450E-9254-92B3DD2FFA75}" type="pres">
      <dgm:prSet presAssocID="{274CFEE6-CB6A-4916-ABEA-A04881EB9E8E}" presName="txShp" presStyleLbl="node1" presStyleIdx="0" presStyleCnt="6">
        <dgm:presLayoutVars>
          <dgm:bulletEnabled val="1"/>
        </dgm:presLayoutVars>
      </dgm:prSet>
      <dgm:spPr/>
      <dgm:t>
        <a:bodyPr/>
        <a:lstStyle/>
        <a:p>
          <a:endParaRPr lang="en-IN"/>
        </a:p>
      </dgm:t>
    </dgm:pt>
    <dgm:pt modelId="{61A3E411-379B-453A-9F79-F961FC9A5334}" type="pres">
      <dgm:prSet presAssocID="{05BD1DE4-BE9C-4F48-B773-54146F6F4672}" presName="spacing" presStyleCnt="0"/>
      <dgm:spPr/>
    </dgm:pt>
    <dgm:pt modelId="{9BA971A5-0978-4A7F-B70F-51BA4F8690CF}" type="pres">
      <dgm:prSet presAssocID="{7C9E5A75-01BD-4807-AB86-314705DCD7B8}" presName="composite" presStyleCnt="0"/>
      <dgm:spPr/>
    </dgm:pt>
    <dgm:pt modelId="{6D6A52C7-85A7-49D7-8B11-BD2CAB4DA2E0}" type="pres">
      <dgm:prSet presAssocID="{7C9E5A75-01BD-4807-AB86-314705DCD7B8}" presName="imgShp" presStyleLbl="fgImgPlace1" presStyleIdx="1" presStyleCnt="6"/>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t>
        <a:bodyPr/>
        <a:lstStyle/>
        <a:p>
          <a:endParaRPr lang="en-IN"/>
        </a:p>
      </dgm:t>
    </dgm:pt>
    <dgm:pt modelId="{691E9F1A-9623-4944-8F22-192EF334CEDD}" type="pres">
      <dgm:prSet presAssocID="{7C9E5A75-01BD-4807-AB86-314705DCD7B8}" presName="txShp" presStyleLbl="node1" presStyleIdx="1" presStyleCnt="6">
        <dgm:presLayoutVars>
          <dgm:bulletEnabled val="1"/>
        </dgm:presLayoutVars>
      </dgm:prSet>
      <dgm:spPr/>
      <dgm:t>
        <a:bodyPr/>
        <a:lstStyle/>
        <a:p>
          <a:endParaRPr lang="en-IN"/>
        </a:p>
      </dgm:t>
    </dgm:pt>
    <dgm:pt modelId="{EEA80428-AA74-4421-85E3-715662F1D424}" type="pres">
      <dgm:prSet presAssocID="{515623D8-C6F2-4310-89B0-80F028F5F4B1}" presName="spacing" presStyleCnt="0"/>
      <dgm:spPr/>
    </dgm:pt>
    <dgm:pt modelId="{20D56ED5-4F70-44A1-9F81-CC08AFB09403}" type="pres">
      <dgm:prSet presAssocID="{9286AF62-7209-4AD8-BE35-60293D956CB3}" presName="composite" presStyleCnt="0"/>
      <dgm:spPr/>
    </dgm:pt>
    <dgm:pt modelId="{3E176E77-AFD1-45A7-BDB9-08EE93D2D143}" type="pres">
      <dgm:prSet presAssocID="{9286AF62-7209-4AD8-BE35-60293D956CB3}" presName="imgShp" presStyleLbl="fg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t>
        <a:bodyPr/>
        <a:lstStyle/>
        <a:p>
          <a:endParaRPr lang="en-IN"/>
        </a:p>
      </dgm:t>
    </dgm:pt>
    <dgm:pt modelId="{890607C5-BBFB-4442-9AEA-C59D0A08C4CC}" type="pres">
      <dgm:prSet presAssocID="{9286AF62-7209-4AD8-BE35-60293D956CB3}" presName="txShp" presStyleLbl="node1" presStyleIdx="2" presStyleCnt="6">
        <dgm:presLayoutVars>
          <dgm:bulletEnabled val="1"/>
        </dgm:presLayoutVars>
      </dgm:prSet>
      <dgm:spPr/>
      <dgm:t>
        <a:bodyPr/>
        <a:lstStyle/>
        <a:p>
          <a:endParaRPr lang="en-IN"/>
        </a:p>
      </dgm:t>
    </dgm:pt>
    <dgm:pt modelId="{57107A22-A5AE-4E4B-A867-9AD8A0001F3A}" type="pres">
      <dgm:prSet presAssocID="{82C34CC6-B71B-4EA1-87AD-216C58D6629C}" presName="spacing" presStyleCnt="0"/>
      <dgm:spPr/>
    </dgm:pt>
    <dgm:pt modelId="{1AB6310D-E30D-42E2-8774-C6C0758B121E}" type="pres">
      <dgm:prSet presAssocID="{264148E4-EBFE-456F-A16B-AAE6F0930EAB}" presName="composite" presStyleCnt="0"/>
      <dgm:spPr/>
    </dgm:pt>
    <dgm:pt modelId="{6C7DF8B2-66BE-4407-B7A2-3036F4538CB3}" type="pres">
      <dgm:prSet presAssocID="{264148E4-EBFE-456F-A16B-AAE6F0930EAB}" presName="imgShp" presStyleLbl="fgImgPlac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5AC3F0DE-6CA6-46E4-8DAC-C5BDE7F8CD01}" type="pres">
      <dgm:prSet presAssocID="{264148E4-EBFE-456F-A16B-AAE6F0930EAB}" presName="txShp" presStyleLbl="node1" presStyleIdx="3" presStyleCnt="6">
        <dgm:presLayoutVars>
          <dgm:bulletEnabled val="1"/>
        </dgm:presLayoutVars>
      </dgm:prSet>
      <dgm:spPr/>
      <dgm:t>
        <a:bodyPr/>
        <a:lstStyle/>
        <a:p>
          <a:endParaRPr lang="en-IN"/>
        </a:p>
      </dgm:t>
    </dgm:pt>
    <dgm:pt modelId="{6BF89DC5-A356-4790-8608-07AA746222DC}" type="pres">
      <dgm:prSet presAssocID="{D5A1A0D0-3A34-4D26-A54F-F6E3206318BA}" presName="spacing" presStyleCnt="0"/>
      <dgm:spPr/>
    </dgm:pt>
    <dgm:pt modelId="{F6A95AB9-BFE4-476A-9082-44B4972B8AF3}" type="pres">
      <dgm:prSet presAssocID="{4D140C93-8615-4EE5-8E9F-36E4217C8847}" presName="composite" presStyleCnt="0"/>
      <dgm:spPr/>
    </dgm:pt>
    <dgm:pt modelId="{728BA049-792E-43BC-A09B-8D761A026748}" type="pres">
      <dgm:prSet presAssocID="{4D140C93-8615-4EE5-8E9F-36E4217C8847}" presName="imgShp" presStyleLbl="fgImgPlace1" presStyleIdx="4" presStyleCnt="6"/>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a:stretch>
        </a:blipFill>
      </dgm:spPr>
    </dgm:pt>
    <dgm:pt modelId="{210EC2FA-A517-485E-A510-7D8D080ADFEE}" type="pres">
      <dgm:prSet presAssocID="{4D140C93-8615-4EE5-8E9F-36E4217C8847}" presName="txShp" presStyleLbl="node1" presStyleIdx="4" presStyleCnt="6">
        <dgm:presLayoutVars>
          <dgm:bulletEnabled val="1"/>
        </dgm:presLayoutVars>
      </dgm:prSet>
      <dgm:spPr/>
      <dgm:t>
        <a:bodyPr/>
        <a:lstStyle/>
        <a:p>
          <a:endParaRPr lang="en-IN"/>
        </a:p>
      </dgm:t>
    </dgm:pt>
    <dgm:pt modelId="{04CD6B10-E7DE-4D71-BB6A-8F4D7D1D294D}" type="pres">
      <dgm:prSet presAssocID="{75224733-864B-41DA-85E8-DCE0229B3E8D}" presName="spacing" presStyleCnt="0"/>
      <dgm:spPr/>
    </dgm:pt>
    <dgm:pt modelId="{58BEF88D-F4AE-40F8-B2AB-4CF30C7C2409}" type="pres">
      <dgm:prSet presAssocID="{3EF303DA-BE74-4407-B07D-214423C7284F}" presName="composite" presStyleCnt="0"/>
      <dgm:spPr/>
    </dgm:pt>
    <dgm:pt modelId="{0A7D216A-43B8-46D6-B983-EF8CFA234C35}" type="pres">
      <dgm:prSet presAssocID="{3EF303DA-BE74-4407-B07D-214423C7284F}" presName="imgShp" presStyleLbl="fgImgPlace1" presStyleIdx="5" presStyleCnt="6"/>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a:stretch>
        </a:blipFill>
      </dgm:spPr>
      <dgm:t>
        <a:bodyPr/>
        <a:lstStyle/>
        <a:p>
          <a:endParaRPr lang="en-IN"/>
        </a:p>
      </dgm:t>
    </dgm:pt>
    <dgm:pt modelId="{33F127DC-26E1-4DE7-90E7-3DE66618041C}" type="pres">
      <dgm:prSet presAssocID="{3EF303DA-BE74-4407-B07D-214423C7284F}" presName="txShp" presStyleLbl="node1" presStyleIdx="5" presStyleCnt="6">
        <dgm:presLayoutVars>
          <dgm:bulletEnabled val="1"/>
        </dgm:presLayoutVars>
      </dgm:prSet>
      <dgm:spPr/>
      <dgm:t>
        <a:bodyPr/>
        <a:lstStyle/>
        <a:p>
          <a:endParaRPr lang="en-IN"/>
        </a:p>
      </dgm:t>
    </dgm:pt>
  </dgm:ptLst>
  <dgm:cxnLst>
    <dgm:cxn modelId="{C1920FD8-701A-47C5-ACAC-AFDCD9B3E6AD}" type="presOf" srcId="{7C9E5A75-01BD-4807-AB86-314705DCD7B8}" destId="{691E9F1A-9623-4944-8F22-192EF334CEDD}" srcOrd="0" destOrd="0" presId="urn:microsoft.com/office/officeart/2005/8/layout/vList3"/>
    <dgm:cxn modelId="{8ED1E399-EF44-4B02-BA46-5A7157F14027}" srcId="{A618B548-EF41-4083-AAD7-EF01062E8342}" destId="{9286AF62-7209-4AD8-BE35-60293D956CB3}" srcOrd="2" destOrd="0" parTransId="{2EDD5C68-7005-43E4-A8EE-49424D533221}" sibTransId="{82C34CC6-B71B-4EA1-87AD-216C58D6629C}"/>
    <dgm:cxn modelId="{FC11C56C-5815-4758-B919-E2305E1B75F6}" srcId="{A618B548-EF41-4083-AAD7-EF01062E8342}" destId="{264148E4-EBFE-456F-A16B-AAE6F0930EAB}" srcOrd="3" destOrd="0" parTransId="{D3F4EB4E-582B-4C3D-963B-2E5649FA6898}" sibTransId="{D5A1A0D0-3A34-4D26-A54F-F6E3206318BA}"/>
    <dgm:cxn modelId="{99C24142-CA35-4D19-84CB-ECA4F9679801}" srcId="{A618B548-EF41-4083-AAD7-EF01062E8342}" destId="{7C9E5A75-01BD-4807-AB86-314705DCD7B8}" srcOrd="1" destOrd="0" parTransId="{E1BB1931-7A59-4F48-A8E0-56700B9B12C7}" sibTransId="{515623D8-C6F2-4310-89B0-80F028F5F4B1}"/>
    <dgm:cxn modelId="{91D76479-F483-47D8-B7C7-29C7742BE683}" srcId="{A618B548-EF41-4083-AAD7-EF01062E8342}" destId="{274CFEE6-CB6A-4916-ABEA-A04881EB9E8E}" srcOrd="0" destOrd="0" parTransId="{CDB91008-707F-4D03-BF4D-0CDBE183BF0E}" sibTransId="{05BD1DE4-BE9C-4F48-B773-54146F6F4672}"/>
    <dgm:cxn modelId="{393475C0-77C1-47B5-9428-83D19964BDB3}" srcId="{A618B548-EF41-4083-AAD7-EF01062E8342}" destId="{3EF303DA-BE74-4407-B07D-214423C7284F}" srcOrd="5" destOrd="0" parTransId="{FAFB74D5-79BB-4E2A-BC48-835B0630D96F}" sibTransId="{F2972EF6-F6F4-43BB-95FF-1EC1E15F2910}"/>
    <dgm:cxn modelId="{4DCE4BB1-A144-43FB-AE2A-A3ADFE1367E8}" srcId="{A618B548-EF41-4083-AAD7-EF01062E8342}" destId="{4D140C93-8615-4EE5-8E9F-36E4217C8847}" srcOrd="4" destOrd="0" parTransId="{5A6F2055-F8AC-420B-87FA-A73792F05B70}" sibTransId="{75224733-864B-41DA-85E8-DCE0229B3E8D}"/>
    <dgm:cxn modelId="{374BDC82-9A8D-4F3D-9BBD-EE95F12A850E}" type="presOf" srcId="{274CFEE6-CB6A-4916-ABEA-A04881EB9E8E}" destId="{E8537BB5-FC4A-450E-9254-92B3DD2FFA75}" srcOrd="0" destOrd="0" presId="urn:microsoft.com/office/officeart/2005/8/layout/vList3"/>
    <dgm:cxn modelId="{913F200E-F63A-4F28-97CF-2E46A6B0FC0A}" type="presOf" srcId="{4D140C93-8615-4EE5-8E9F-36E4217C8847}" destId="{210EC2FA-A517-485E-A510-7D8D080ADFEE}" srcOrd="0" destOrd="0" presId="urn:microsoft.com/office/officeart/2005/8/layout/vList3"/>
    <dgm:cxn modelId="{A33CFEBA-D693-425A-B911-3E91CC7D1C4B}" type="presOf" srcId="{264148E4-EBFE-456F-A16B-AAE6F0930EAB}" destId="{5AC3F0DE-6CA6-46E4-8DAC-C5BDE7F8CD01}" srcOrd="0" destOrd="0" presId="urn:microsoft.com/office/officeart/2005/8/layout/vList3"/>
    <dgm:cxn modelId="{9EC4366D-7A52-4CE5-8633-FA0597B09824}" type="presOf" srcId="{3EF303DA-BE74-4407-B07D-214423C7284F}" destId="{33F127DC-26E1-4DE7-90E7-3DE66618041C}" srcOrd="0" destOrd="0" presId="urn:microsoft.com/office/officeart/2005/8/layout/vList3"/>
    <dgm:cxn modelId="{F11456FE-2572-4DB8-B685-93E98EAA3A85}" type="presOf" srcId="{9286AF62-7209-4AD8-BE35-60293D956CB3}" destId="{890607C5-BBFB-4442-9AEA-C59D0A08C4CC}" srcOrd="0" destOrd="0" presId="urn:microsoft.com/office/officeart/2005/8/layout/vList3"/>
    <dgm:cxn modelId="{87C52D4E-70BB-46DF-AAAA-70B1BA21B629}" type="presOf" srcId="{A618B548-EF41-4083-AAD7-EF01062E8342}" destId="{196A5EE4-51FF-4AAB-B685-2F6405C4F48D}" srcOrd="0" destOrd="0" presId="urn:microsoft.com/office/officeart/2005/8/layout/vList3"/>
    <dgm:cxn modelId="{163EB70D-0FC6-4FBC-8603-23000BB6AA49}" type="presParOf" srcId="{196A5EE4-51FF-4AAB-B685-2F6405C4F48D}" destId="{D56883EA-C950-4838-A7D6-6BEE39497306}" srcOrd="0" destOrd="0" presId="urn:microsoft.com/office/officeart/2005/8/layout/vList3"/>
    <dgm:cxn modelId="{D805FE0C-8B8D-4EC0-8433-739069445B42}" type="presParOf" srcId="{D56883EA-C950-4838-A7D6-6BEE39497306}" destId="{214A376B-C47A-44F9-BDF2-83D572405F6D}" srcOrd="0" destOrd="0" presId="urn:microsoft.com/office/officeart/2005/8/layout/vList3"/>
    <dgm:cxn modelId="{39F8506B-DEEF-4F6E-92C9-411295B31A20}" type="presParOf" srcId="{D56883EA-C950-4838-A7D6-6BEE39497306}" destId="{E8537BB5-FC4A-450E-9254-92B3DD2FFA75}" srcOrd="1" destOrd="0" presId="urn:microsoft.com/office/officeart/2005/8/layout/vList3"/>
    <dgm:cxn modelId="{1CCCC7A6-8E96-4482-867B-73D730BB56F5}" type="presParOf" srcId="{196A5EE4-51FF-4AAB-B685-2F6405C4F48D}" destId="{61A3E411-379B-453A-9F79-F961FC9A5334}" srcOrd="1" destOrd="0" presId="urn:microsoft.com/office/officeart/2005/8/layout/vList3"/>
    <dgm:cxn modelId="{FD721C35-73D1-404C-8F7E-C2831EA30E2D}" type="presParOf" srcId="{196A5EE4-51FF-4AAB-B685-2F6405C4F48D}" destId="{9BA971A5-0978-4A7F-B70F-51BA4F8690CF}" srcOrd="2" destOrd="0" presId="urn:microsoft.com/office/officeart/2005/8/layout/vList3"/>
    <dgm:cxn modelId="{65F77F61-5295-46A6-9D70-32EE257E6BDD}" type="presParOf" srcId="{9BA971A5-0978-4A7F-B70F-51BA4F8690CF}" destId="{6D6A52C7-85A7-49D7-8B11-BD2CAB4DA2E0}" srcOrd="0" destOrd="0" presId="urn:microsoft.com/office/officeart/2005/8/layout/vList3"/>
    <dgm:cxn modelId="{E378E800-22A9-406C-8398-068CF5694690}" type="presParOf" srcId="{9BA971A5-0978-4A7F-B70F-51BA4F8690CF}" destId="{691E9F1A-9623-4944-8F22-192EF334CEDD}" srcOrd="1" destOrd="0" presId="urn:microsoft.com/office/officeart/2005/8/layout/vList3"/>
    <dgm:cxn modelId="{BEBC4F0D-5205-4AE2-B543-8719BB37265F}" type="presParOf" srcId="{196A5EE4-51FF-4AAB-B685-2F6405C4F48D}" destId="{EEA80428-AA74-4421-85E3-715662F1D424}" srcOrd="3" destOrd="0" presId="urn:microsoft.com/office/officeart/2005/8/layout/vList3"/>
    <dgm:cxn modelId="{CB123F3A-501F-4A46-9107-13E7415CACF7}" type="presParOf" srcId="{196A5EE4-51FF-4AAB-B685-2F6405C4F48D}" destId="{20D56ED5-4F70-44A1-9F81-CC08AFB09403}" srcOrd="4" destOrd="0" presId="urn:microsoft.com/office/officeart/2005/8/layout/vList3"/>
    <dgm:cxn modelId="{FD44B418-87DA-4B86-99FF-FF16C5478460}" type="presParOf" srcId="{20D56ED5-4F70-44A1-9F81-CC08AFB09403}" destId="{3E176E77-AFD1-45A7-BDB9-08EE93D2D143}" srcOrd="0" destOrd="0" presId="urn:microsoft.com/office/officeart/2005/8/layout/vList3"/>
    <dgm:cxn modelId="{7A8DCB4F-FB71-42B3-A274-572C2A5239F3}" type="presParOf" srcId="{20D56ED5-4F70-44A1-9F81-CC08AFB09403}" destId="{890607C5-BBFB-4442-9AEA-C59D0A08C4CC}" srcOrd="1" destOrd="0" presId="urn:microsoft.com/office/officeart/2005/8/layout/vList3"/>
    <dgm:cxn modelId="{D97518E2-76B7-4B4B-A67B-C5305CC270E0}" type="presParOf" srcId="{196A5EE4-51FF-4AAB-B685-2F6405C4F48D}" destId="{57107A22-A5AE-4E4B-A867-9AD8A0001F3A}" srcOrd="5" destOrd="0" presId="urn:microsoft.com/office/officeart/2005/8/layout/vList3"/>
    <dgm:cxn modelId="{317F76AC-AD8B-415E-9B7F-C7D97F38DF99}" type="presParOf" srcId="{196A5EE4-51FF-4AAB-B685-2F6405C4F48D}" destId="{1AB6310D-E30D-42E2-8774-C6C0758B121E}" srcOrd="6" destOrd="0" presId="urn:microsoft.com/office/officeart/2005/8/layout/vList3"/>
    <dgm:cxn modelId="{07E26146-765A-4EC9-B90F-EDAF9CE4CA93}" type="presParOf" srcId="{1AB6310D-E30D-42E2-8774-C6C0758B121E}" destId="{6C7DF8B2-66BE-4407-B7A2-3036F4538CB3}" srcOrd="0" destOrd="0" presId="urn:microsoft.com/office/officeart/2005/8/layout/vList3"/>
    <dgm:cxn modelId="{F103C378-76C6-46FB-B5C6-8B92FC21C1EF}" type="presParOf" srcId="{1AB6310D-E30D-42E2-8774-C6C0758B121E}" destId="{5AC3F0DE-6CA6-46E4-8DAC-C5BDE7F8CD01}" srcOrd="1" destOrd="0" presId="urn:microsoft.com/office/officeart/2005/8/layout/vList3"/>
    <dgm:cxn modelId="{8936D795-FA75-4798-8D3F-21DCE0C9C710}" type="presParOf" srcId="{196A5EE4-51FF-4AAB-B685-2F6405C4F48D}" destId="{6BF89DC5-A356-4790-8608-07AA746222DC}" srcOrd="7" destOrd="0" presId="urn:microsoft.com/office/officeart/2005/8/layout/vList3"/>
    <dgm:cxn modelId="{79DDF085-9CB4-49BA-B1E9-B22BDE806D21}" type="presParOf" srcId="{196A5EE4-51FF-4AAB-B685-2F6405C4F48D}" destId="{F6A95AB9-BFE4-476A-9082-44B4972B8AF3}" srcOrd="8" destOrd="0" presId="urn:microsoft.com/office/officeart/2005/8/layout/vList3"/>
    <dgm:cxn modelId="{8417C02D-E466-49CE-88AD-335502D63FD6}" type="presParOf" srcId="{F6A95AB9-BFE4-476A-9082-44B4972B8AF3}" destId="{728BA049-792E-43BC-A09B-8D761A026748}" srcOrd="0" destOrd="0" presId="urn:microsoft.com/office/officeart/2005/8/layout/vList3"/>
    <dgm:cxn modelId="{3E5CCF22-F3FC-49B3-9CB6-97E716345D35}" type="presParOf" srcId="{F6A95AB9-BFE4-476A-9082-44B4972B8AF3}" destId="{210EC2FA-A517-485E-A510-7D8D080ADFEE}" srcOrd="1" destOrd="0" presId="urn:microsoft.com/office/officeart/2005/8/layout/vList3"/>
    <dgm:cxn modelId="{6DBC1D88-A041-45F2-B9B3-056EF560644C}" type="presParOf" srcId="{196A5EE4-51FF-4AAB-B685-2F6405C4F48D}" destId="{04CD6B10-E7DE-4D71-BB6A-8F4D7D1D294D}" srcOrd="9" destOrd="0" presId="urn:microsoft.com/office/officeart/2005/8/layout/vList3"/>
    <dgm:cxn modelId="{FF6A771E-B6D2-434F-BB8F-E8217239F9C2}" type="presParOf" srcId="{196A5EE4-51FF-4AAB-B685-2F6405C4F48D}" destId="{58BEF88D-F4AE-40F8-B2AB-4CF30C7C2409}" srcOrd="10" destOrd="0" presId="urn:microsoft.com/office/officeart/2005/8/layout/vList3"/>
    <dgm:cxn modelId="{9A7F1799-6FC1-4210-9FB0-69FA6FFF2D2D}" type="presParOf" srcId="{58BEF88D-F4AE-40F8-B2AB-4CF30C7C2409}" destId="{0A7D216A-43B8-46D6-B983-EF8CFA234C35}" srcOrd="0" destOrd="0" presId="urn:microsoft.com/office/officeart/2005/8/layout/vList3"/>
    <dgm:cxn modelId="{001585ED-472D-43A3-96D8-49C30CB9302D}" type="presParOf" srcId="{58BEF88D-F4AE-40F8-B2AB-4CF30C7C2409}" destId="{33F127DC-26E1-4DE7-90E7-3DE66618041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7A53CE-AA7F-44D8-813B-A319673BC345}"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BC9B1F62-121B-4268-AB29-65710F507C65}">
      <dgm:prSet/>
      <dgm:spPr>
        <a:solidFill>
          <a:schemeClr val="accent6">
            <a:lumMod val="40000"/>
            <a:lumOff val="60000"/>
          </a:schemeClr>
        </a:solidFill>
      </dgm:spPr>
      <dgm:t>
        <a:bodyPr/>
        <a:lstStyle/>
        <a:p>
          <a:pPr rtl="0"/>
          <a:r>
            <a:rPr lang="en-US" b="1" dirty="0" smtClean="0">
              <a:solidFill>
                <a:schemeClr val="tx1"/>
              </a:solidFill>
            </a:rPr>
            <a:t>Benefits</a:t>
          </a:r>
          <a:endParaRPr lang="en-IN" dirty="0">
            <a:solidFill>
              <a:schemeClr val="tx1"/>
            </a:solidFill>
          </a:endParaRPr>
        </a:p>
      </dgm:t>
    </dgm:pt>
    <dgm:pt modelId="{6F000A99-FC61-490B-8DE9-78E26E4BF006}" type="parTrans" cxnId="{FDCAD839-081F-490E-88E6-F1C4501597F1}">
      <dgm:prSet/>
      <dgm:spPr/>
      <dgm:t>
        <a:bodyPr/>
        <a:lstStyle/>
        <a:p>
          <a:endParaRPr lang="en-IN"/>
        </a:p>
      </dgm:t>
    </dgm:pt>
    <dgm:pt modelId="{FA27F2A3-6444-4CF4-BF0D-428F996F1065}" type="sibTrans" cxnId="{FDCAD839-081F-490E-88E6-F1C4501597F1}">
      <dgm:prSet/>
      <dgm:spPr/>
      <dgm:t>
        <a:bodyPr/>
        <a:lstStyle/>
        <a:p>
          <a:endParaRPr lang="en-IN"/>
        </a:p>
      </dgm:t>
    </dgm:pt>
    <dgm:pt modelId="{F4F872FD-3154-4898-8950-EFF87A754133}">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Practical</a:t>
          </a:r>
          <a:r>
            <a:rPr lang="en-US" sz="1400" dirty="0" smtClean="0">
              <a:solidFill>
                <a:schemeClr val="tx1"/>
              </a:solidFill>
              <a:latin typeface="Times New Roman" panose="02020603050405020304" pitchFamily="18" charset="0"/>
              <a:cs typeface="Times New Roman" panose="02020603050405020304" pitchFamily="18" charset="0"/>
            </a:rPr>
            <a:t>: Fewer disruptions to events, better planning, reduced costs from cancellations or damages</a:t>
          </a:r>
          <a:r>
            <a:rPr lang="en-US" sz="1500" dirty="0" smtClean="0"/>
            <a:t>.</a:t>
          </a:r>
          <a:endParaRPr lang="en-IN" sz="1500" dirty="0"/>
        </a:p>
      </dgm:t>
    </dgm:pt>
    <dgm:pt modelId="{294E1896-B10A-4566-9B45-6DF40263E797}" type="parTrans" cxnId="{4B56B195-FB0B-44A2-83F7-41633FCDE63F}">
      <dgm:prSet/>
      <dgm:spPr/>
      <dgm:t>
        <a:bodyPr/>
        <a:lstStyle/>
        <a:p>
          <a:endParaRPr lang="en-IN"/>
        </a:p>
      </dgm:t>
    </dgm:pt>
    <dgm:pt modelId="{B0ABC0A3-FD40-45C1-A0BC-A3970709DE34}" type="sibTrans" cxnId="{4B56B195-FB0B-44A2-83F7-41633FCDE63F}">
      <dgm:prSet/>
      <dgm:spPr/>
      <dgm:t>
        <a:bodyPr/>
        <a:lstStyle/>
        <a:p>
          <a:endParaRPr lang="en-IN"/>
        </a:p>
      </dgm:t>
    </dgm:pt>
    <dgm:pt modelId="{C27B8CF7-3896-47EA-BF5F-124A26149ABE}">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Social</a:t>
          </a:r>
          <a:r>
            <a:rPr lang="en-US" sz="1400" dirty="0" smtClean="0">
              <a:solidFill>
                <a:schemeClr val="tx1"/>
              </a:solidFill>
              <a:latin typeface="Times New Roman" panose="02020603050405020304" pitchFamily="18" charset="0"/>
              <a:cs typeface="Times New Roman" panose="02020603050405020304" pitchFamily="18" charset="0"/>
            </a:rPr>
            <a:t>: Stronger community trust, participation, and shared responsibility.</a:t>
          </a:r>
          <a:endParaRPr lang="en-IN" sz="1400" dirty="0">
            <a:solidFill>
              <a:schemeClr val="tx1"/>
            </a:solidFill>
            <a:latin typeface="Times New Roman" panose="02020603050405020304" pitchFamily="18" charset="0"/>
            <a:cs typeface="Times New Roman" panose="02020603050405020304" pitchFamily="18" charset="0"/>
          </a:endParaRPr>
        </a:p>
      </dgm:t>
    </dgm:pt>
    <dgm:pt modelId="{5E8B2E9D-7984-4CFA-8822-A8F094D89DE2}" type="parTrans" cxnId="{633223C9-D49D-4074-B420-739137F59466}">
      <dgm:prSet/>
      <dgm:spPr/>
      <dgm:t>
        <a:bodyPr/>
        <a:lstStyle/>
        <a:p>
          <a:endParaRPr lang="en-IN"/>
        </a:p>
      </dgm:t>
    </dgm:pt>
    <dgm:pt modelId="{EE738403-31E5-4216-8771-9D2E2F90633D}" type="sibTrans" cxnId="{633223C9-D49D-4074-B420-739137F59466}">
      <dgm:prSet/>
      <dgm:spPr/>
      <dgm:t>
        <a:bodyPr/>
        <a:lstStyle/>
        <a:p>
          <a:endParaRPr lang="en-IN"/>
        </a:p>
      </dgm:t>
    </dgm:pt>
    <dgm:pt modelId="{6E1A2D19-23F9-4D01-A0BE-6335964C05E3}">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Personal</a:t>
          </a:r>
          <a:r>
            <a:rPr lang="en-US" sz="1400" dirty="0" smtClean="0">
              <a:solidFill>
                <a:schemeClr val="tx1"/>
              </a:solidFill>
              <a:latin typeface="Times New Roman" panose="02020603050405020304" pitchFamily="18" charset="0"/>
              <a:cs typeface="Times New Roman" panose="02020603050405020304" pitchFamily="18" charset="0"/>
            </a:rPr>
            <a:t>: Increased confidence, reduced anxiety about uncertainty.</a:t>
          </a:r>
          <a:endParaRPr lang="en-IN" sz="1400" dirty="0">
            <a:solidFill>
              <a:schemeClr val="tx1"/>
            </a:solidFill>
            <a:latin typeface="Times New Roman" panose="02020603050405020304" pitchFamily="18" charset="0"/>
            <a:cs typeface="Times New Roman" panose="02020603050405020304" pitchFamily="18" charset="0"/>
          </a:endParaRPr>
        </a:p>
      </dgm:t>
    </dgm:pt>
    <dgm:pt modelId="{BE144D36-E436-4270-B3D5-51FFE8A00B00}" type="parTrans" cxnId="{DC121561-4D9B-42B6-A8F1-E3E59B9F489D}">
      <dgm:prSet/>
      <dgm:spPr/>
      <dgm:t>
        <a:bodyPr/>
        <a:lstStyle/>
        <a:p>
          <a:endParaRPr lang="en-IN"/>
        </a:p>
      </dgm:t>
    </dgm:pt>
    <dgm:pt modelId="{1E5BB835-29BF-497A-B866-668805BB3057}" type="sibTrans" cxnId="{DC121561-4D9B-42B6-A8F1-E3E59B9F489D}">
      <dgm:prSet/>
      <dgm:spPr/>
      <dgm:t>
        <a:bodyPr/>
        <a:lstStyle/>
        <a:p>
          <a:endParaRPr lang="en-IN"/>
        </a:p>
      </dgm:t>
    </dgm:pt>
    <dgm:pt modelId="{4AE6C90C-4387-4D24-B02B-F00A4A3E14C0}">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Economic</a:t>
          </a:r>
          <a:r>
            <a:rPr lang="en-US" sz="1400" dirty="0" smtClean="0">
              <a:solidFill>
                <a:schemeClr val="tx1"/>
              </a:solidFill>
              <a:latin typeface="Times New Roman" panose="02020603050405020304" pitchFamily="18" charset="0"/>
              <a:cs typeface="Times New Roman" panose="02020603050405020304" pitchFamily="18" charset="0"/>
            </a:rPr>
            <a:t>: Savings through efficient planning, new opportunities for weather-tech innovation.</a:t>
          </a:r>
          <a:endParaRPr lang="en-IN" sz="1400" dirty="0">
            <a:solidFill>
              <a:schemeClr val="tx1"/>
            </a:solidFill>
            <a:latin typeface="Times New Roman" panose="02020603050405020304" pitchFamily="18" charset="0"/>
            <a:cs typeface="Times New Roman" panose="02020603050405020304" pitchFamily="18" charset="0"/>
          </a:endParaRPr>
        </a:p>
      </dgm:t>
    </dgm:pt>
    <dgm:pt modelId="{B83BE501-5DBC-456B-84D6-E8323B4A035B}" type="parTrans" cxnId="{903F7606-AA48-44F0-AB23-5911A8C42619}">
      <dgm:prSet/>
      <dgm:spPr/>
      <dgm:t>
        <a:bodyPr/>
        <a:lstStyle/>
        <a:p>
          <a:endParaRPr lang="en-IN"/>
        </a:p>
      </dgm:t>
    </dgm:pt>
    <dgm:pt modelId="{76333376-30CD-4B27-B918-EF43F6B48DDC}" type="sibTrans" cxnId="{903F7606-AA48-44F0-AB23-5911A8C42619}">
      <dgm:prSet/>
      <dgm:spPr/>
      <dgm:t>
        <a:bodyPr/>
        <a:lstStyle/>
        <a:p>
          <a:endParaRPr lang="en-IN"/>
        </a:p>
      </dgm:t>
    </dgm:pt>
    <dgm:pt modelId="{9F22D910-2706-4536-88C0-9CB387EBD347}">
      <dgm:prSet custT="1"/>
      <dgm:spPr>
        <a:solidFill>
          <a:schemeClr val="accent6">
            <a:lumMod val="40000"/>
            <a:lumOff val="60000"/>
          </a:schemeClr>
        </a:solidFill>
      </dgm:spPr>
      <dgm:t>
        <a:bodyPr/>
        <a:lstStyle/>
        <a:p>
          <a:pPr rtl="0"/>
          <a:r>
            <a:rPr lang="en-US" sz="1400" b="1" dirty="0" smtClean="0">
              <a:solidFill>
                <a:schemeClr val="tx1"/>
              </a:solidFill>
              <a:latin typeface="Times New Roman" panose="02020603050405020304" pitchFamily="18" charset="0"/>
              <a:cs typeface="Times New Roman" panose="02020603050405020304" pitchFamily="18" charset="0"/>
            </a:rPr>
            <a:t>Environmental</a:t>
          </a:r>
          <a:r>
            <a:rPr lang="en-US" sz="1400" dirty="0" smtClean="0">
              <a:solidFill>
                <a:schemeClr val="tx1"/>
              </a:solidFill>
              <a:latin typeface="Times New Roman" panose="02020603050405020304" pitchFamily="18" charset="0"/>
              <a:cs typeface="Times New Roman" panose="02020603050405020304" pitchFamily="18" charset="0"/>
            </a:rPr>
            <a:t>: More sustainable choices by planning around climate impacts.</a:t>
          </a:r>
          <a:endParaRPr lang="en-IN" sz="1400" dirty="0">
            <a:solidFill>
              <a:schemeClr val="tx1"/>
            </a:solidFill>
            <a:latin typeface="Times New Roman" panose="02020603050405020304" pitchFamily="18" charset="0"/>
            <a:cs typeface="Times New Roman" panose="02020603050405020304" pitchFamily="18" charset="0"/>
          </a:endParaRPr>
        </a:p>
      </dgm:t>
    </dgm:pt>
    <dgm:pt modelId="{E64FAC84-7949-4628-BD98-05E641A06636}" type="parTrans" cxnId="{320202CF-ACA1-48BF-916D-B75CB09165AD}">
      <dgm:prSet/>
      <dgm:spPr/>
      <dgm:t>
        <a:bodyPr/>
        <a:lstStyle/>
        <a:p>
          <a:endParaRPr lang="en-IN"/>
        </a:p>
      </dgm:t>
    </dgm:pt>
    <dgm:pt modelId="{9DD0FB17-2A11-4628-A080-EAB5FD6B2165}" type="sibTrans" cxnId="{320202CF-ACA1-48BF-916D-B75CB09165AD}">
      <dgm:prSet/>
      <dgm:spPr/>
      <dgm:t>
        <a:bodyPr/>
        <a:lstStyle/>
        <a:p>
          <a:endParaRPr lang="en-IN"/>
        </a:p>
      </dgm:t>
    </dgm:pt>
    <dgm:pt modelId="{A0630591-009B-4D56-8B0F-DA0251594F81}" type="pres">
      <dgm:prSet presAssocID="{F97A53CE-AA7F-44D8-813B-A319673BC345}" presName="linearFlow" presStyleCnt="0">
        <dgm:presLayoutVars>
          <dgm:dir/>
          <dgm:resizeHandles val="exact"/>
        </dgm:presLayoutVars>
      </dgm:prSet>
      <dgm:spPr/>
      <dgm:t>
        <a:bodyPr/>
        <a:lstStyle/>
        <a:p>
          <a:endParaRPr lang="en-IN"/>
        </a:p>
      </dgm:t>
    </dgm:pt>
    <dgm:pt modelId="{80F069C8-C558-462E-A576-DA068FAF2590}" type="pres">
      <dgm:prSet presAssocID="{BC9B1F62-121B-4268-AB29-65710F507C65}" presName="composite" presStyleCnt="0"/>
      <dgm:spPr/>
    </dgm:pt>
    <dgm:pt modelId="{A1C37A69-F1D1-4C36-893B-142F867D9B53}" type="pres">
      <dgm:prSet presAssocID="{BC9B1F62-121B-4268-AB29-65710F507C65}" presName="imgShp" presStyleLbl="fgImgPlac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t="-31000" b="-31000"/>
          </a:stretch>
        </a:blipFill>
      </dgm:spPr>
      <dgm:t>
        <a:bodyPr/>
        <a:lstStyle/>
        <a:p>
          <a:endParaRPr lang="en-IN"/>
        </a:p>
      </dgm:t>
    </dgm:pt>
    <dgm:pt modelId="{CD158C26-77F3-4FCC-965E-B65CD1D4B577}" type="pres">
      <dgm:prSet presAssocID="{BC9B1F62-121B-4268-AB29-65710F507C65}" presName="txShp" presStyleLbl="node1" presStyleIdx="0" presStyleCnt="6">
        <dgm:presLayoutVars>
          <dgm:bulletEnabled val="1"/>
        </dgm:presLayoutVars>
      </dgm:prSet>
      <dgm:spPr/>
      <dgm:t>
        <a:bodyPr/>
        <a:lstStyle/>
        <a:p>
          <a:endParaRPr lang="en-IN"/>
        </a:p>
      </dgm:t>
    </dgm:pt>
    <dgm:pt modelId="{9BC512D2-181F-4818-BB8A-C21027D5067A}" type="pres">
      <dgm:prSet presAssocID="{FA27F2A3-6444-4CF4-BF0D-428F996F1065}" presName="spacing" presStyleCnt="0"/>
      <dgm:spPr/>
    </dgm:pt>
    <dgm:pt modelId="{A9143ECB-18A2-448B-964E-D47C259B1F15}" type="pres">
      <dgm:prSet presAssocID="{F4F872FD-3154-4898-8950-EFF87A754133}" presName="composite" presStyleCnt="0"/>
      <dgm:spPr/>
    </dgm:pt>
    <dgm:pt modelId="{9AE4C310-920B-43E7-B497-3479F6B838CE}" type="pres">
      <dgm:prSet presAssocID="{F4F872FD-3154-4898-8950-EFF87A754133}" presName="imgShp" presStyleLbl="fgImgPlac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5CE9EBDD-55BD-4869-8718-BB66CAC5D656}" type="pres">
      <dgm:prSet presAssocID="{F4F872FD-3154-4898-8950-EFF87A754133}" presName="txShp" presStyleLbl="node1" presStyleIdx="1" presStyleCnt="6">
        <dgm:presLayoutVars>
          <dgm:bulletEnabled val="1"/>
        </dgm:presLayoutVars>
      </dgm:prSet>
      <dgm:spPr/>
      <dgm:t>
        <a:bodyPr/>
        <a:lstStyle/>
        <a:p>
          <a:endParaRPr lang="en-IN"/>
        </a:p>
      </dgm:t>
    </dgm:pt>
    <dgm:pt modelId="{11546315-08B7-4BA0-9461-BA06AC3CC8B7}" type="pres">
      <dgm:prSet presAssocID="{B0ABC0A3-FD40-45C1-A0BC-A3970709DE34}" presName="spacing" presStyleCnt="0"/>
      <dgm:spPr/>
    </dgm:pt>
    <dgm:pt modelId="{0E7BC30E-C2B8-4E39-8A74-283D5B5BE1BC}" type="pres">
      <dgm:prSet presAssocID="{C27B8CF7-3896-47EA-BF5F-124A26149ABE}" presName="composite" presStyleCnt="0"/>
      <dgm:spPr/>
    </dgm:pt>
    <dgm:pt modelId="{50FBDFCA-BAED-4B3B-836F-8DED4E46D1E9}" type="pres">
      <dgm:prSet presAssocID="{C27B8CF7-3896-47EA-BF5F-124A26149ABE}" presName="imgShp" presStyleLbl="fg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1BD39490-DA6E-4ACA-887B-C81628A7EC24}" type="pres">
      <dgm:prSet presAssocID="{C27B8CF7-3896-47EA-BF5F-124A26149ABE}" presName="txShp" presStyleLbl="node1" presStyleIdx="2" presStyleCnt="6">
        <dgm:presLayoutVars>
          <dgm:bulletEnabled val="1"/>
        </dgm:presLayoutVars>
      </dgm:prSet>
      <dgm:spPr/>
      <dgm:t>
        <a:bodyPr/>
        <a:lstStyle/>
        <a:p>
          <a:endParaRPr lang="en-IN"/>
        </a:p>
      </dgm:t>
    </dgm:pt>
    <dgm:pt modelId="{E600544C-C3CB-43F5-A83B-0D494BF3335F}" type="pres">
      <dgm:prSet presAssocID="{EE738403-31E5-4216-8771-9D2E2F90633D}" presName="spacing" presStyleCnt="0"/>
      <dgm:spPr/>
    </dgm:pt>
    <dgm:pt modelId="{A07D5A97-BF9D-45BC-B958-4902E6ED5BA7}" type="pres">
      <dgm:prSet presAssocID="{6E1A2D19-23F9-4D01-A0BE-6335964C05E3}" presName="composite" presStyleCnt="0"/>
      <dgm:spPr/>
    </dgm:pt>
    <dgm:pt modelId="{C8B9375A-3C7D-4E0B-BD6B-D856764C9196}" type="pres">
      <dgm:prSet presAssocID="{6E1A2D19-23F9-4D01-A0BE-6335964C05E3}" presName="imgShp" presStyleLbl="fgImgPlace1" presStyleIdx="3" presStyleCnt="6"/>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a:stretch>
        </a:blipFill>
      </dgm:spPr>
    </dgm:pt>
    <dgm:pt modelId="{71E0C075-4903-4AA1-B98A-2CF82B7D428E}" type="pres">
      <dgm:prSet presAssocID="{6E1A2D19-23F9-4D01-A0BE-6335964C05E3}" presName="txShp" presStyleLbl="node1" presStyleIdx="3" presStyleCnt="6">
        <dgm:presLayoutVars>
          <dgm:bulletEnabled val="1"/>
        </dgm:presLayoutVars>
      </dgm:prSet>
      <dgm:spPr/>
      <dgm:t>
        <a:bodyPr/>
        <a:lstStyle/>
        <a:p>
          <a:endParaRPr lang="en-IN"/>
        </a:p>
      </dgm:t>
    </dgm:pt>
    <dgm:pt modelId="{BABF994B-7401-41DC-B711-5AECB5033E34}" type="pres">
      <dgm:prSet presAssocID="{1E5BB835-29BF-497A-B866-668805BB3057}" presName="spacing" presStyleCnt="0"/>
      <dgm:spPr/>
    </dgm:pt>
    <dgm:pt modelId="{AE49B175-5BC9-443A-80A1-97160EC4E8DE}" type="pres">
      <dgm:prSet presAssocID="{4AE6C90C-4387-4D24-B02B-F00A4A3E14C0}" presName="composite" presStyleCnt="0"/>
      <dgm:spPr/>
    </dgm:pt>
    <dgm:pt modelId="{1751CEF8-7E73-49CE-A793-297845F1238F}" type="pres">
      <dgm:prSet presAssocID="{4AE6C90C-4387-4D24-B02B-F00A4A3E14C0}" presName="imgShp" presStyleLbl="fgImgPlace1" presStyleIdx="4" presStyleCnt="6"/>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0D48B9FF-7D12-4F97-B5FB-96B22C1C996E}" type="pres">
      <dgm:prSet presAssocID="{4AE6C90C-4387-4D24-B02B-F00A4A3E14C0}" presName="txShp" presStyleLbl="node1" presStyleIdx="4" presStyleCnt="6">
        <dgm:presLayoutVars>
          <dgm:bulletEnabled val="1"/>
        </dgm:presLayoutVars>
      </dgm:prSet>
      <dgm:spPr/>
      <dgm:t>
        <a:bodyPr/>
        <a:lstStyle/>
        <a:p>
          <a:endParaRPr lang="en-IN"/>
        </a:p>
      </dgm:t>
    </dgm:pt>
    <dgm:pt modelId="{6A0E6162-9EBC-42FC-9C65-B81AB9E39B96}" type="pres">
      <dgm:prSet presAssocID="{76333376-30CD-4B27-B918-EF43F6B48DDC}" presName="spacing" presStyleCnt="0"/>
      <dgm:spPr/>
    </dgm:pt>
    <dgm:pt modelId="{8C67BCC2-B741-47D8-98F9-3F05D68D0132}" type="pres">
      <dgm:prSet presAssocID="{9F22D910-2706-4536-88C0-9CB387EBD347}" presName="composite" presStyleCnt="0"/>
      <dgm:spPr/>
    </dgm:pt>
    <dgm:pt modelId="{E6630DE7-D0C6-4FA9-84BD-87E1DBD1A0BE}" type="pres">
      <dgm:prSet presAssocID="{9F22D910-2706-4536-88C0-9CB387EBD347}" presName="imgShp" presStyleLbl="fgImgPlac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t="-1000" b="-1000"/>
          </a:stretch>
        </a:blipFill>
      </dgm:spPr>
    </dgm:pt>
    <dgm:pt modelId="{6EF07FBD-0644-421F-8C4A-854E175AB3C7}" type="pres">
      <dgm:prSet presAssocID="{9F22D910-2706-4536-88C0-9CB387EBD347}" presName="txShp" presStyleLbl="node1" presStyleIdx="5" presStyleCnt="6">
        <dgm:presLayoutVars>
          <dgm:bulletEnabled val="1"/>
        </dgm:presLayoutVars>
      </dgm:prSet>
      <dgm:spPr/>
      <dgm:t>
        <a:bodyPr/>
        <a:lstStyle/>
        <a:p>
          <a:endParaRPr lang="en-IN"/>
        </a:p>
      </dgm:t>
    </dgm:pt>
  </dgm:ptLst>
  <dgm:cxnLst>
    <dgm:cxn modelId="{26EF4329-724D-42B9-80D0-AEDF6F4401F4}" type="presOf" srcId="{BC9B1F62-121B-4268-AB29-65710F507C65}" destId="{CD158C26-77F3-4FCC-965E-B65CD1D4B577}" srcOrd="0" destOrd="0" presId="urn:microsoft.com/office/officeart/2005/8/layout/vList3"/>
    <dgm:cxn modelId="{FDCAD839-081F-490E-88E6-F1C4501597F1}" srcId="{F97A53CE-AA7F-44D8-813B-A319673BC345}" destId="{BC9B1F62-121B-4268-AB29-65710F507C65}" srcOrd="0" destOrd="0" parTransId="{6F000A99-FC61-490B-8DE9-78E26E4BF006}" sibTransId="{FA27F2A3-6444-4CF4-BF0D-428F996F1065}"/>
    <dgm:cxn modelId="{DC121561-4D9B-42B6-A8F1-E3E59B9F489D}" srcId="{F97A53CE-AA7F-44D8-813B-A319673BC345}" destId="{6E1A2D19-23F9-4D01-A0BE-6335964C05E3}" srcOrd="3" destOrd="0" parTransId="{BE144D36-E436-4270-B3D5-51FFE8A00B00}" sibTransId="{1E5BB835-29BF-497A-B866-668805BB3057}"/>
    <dgm:cxn modelId="{979BF153-DA68-4157-9006-22A8AF312AB8}" type="presOf" srcId="{F4F872FD-3154-4898-8950-EFF87A754133}" destId="{5CE9EBDD-55BD-4869-8718-BB66CAC5D656}" srcOrd="0" destOrd="0" presId="urn:microsoft.com/office/officeart/2005/8/layout/vList3"/>
    <dgm:cxn modelId="{F0A75128-3954-42FC-B5B4-1A6727302238}" type="presOf" srcId="{F97A53CE-AA7F-44D8-813B-A319673BC345}" destId="{A0630591-009B-4D56-8B0F-DA0251594F81}" srcOrd="0" destOrd="0" presId="urn:microsoft.com/office/officeart/2005/8/layout/vList3"/>
    <dgm:cxn modelId="{15B6313A-B882-4B76-8348-BA6E8F930E47}" type="presOf" srcId="{9F22D910-2706-4536-88C0-9CB387EBD347}" destId="{6EF07FBD-0644-421F-8C4A-854E175AB3C7}" srcOrd="0" destOrd="0" presId="urn:microsoft.com/office/officeart/2005/8/layout/vList3"/>
    <dgm:cxn modelId="{633223C9-D49D-4074-B420-739137F59466}" srcId="{F97A53CE-AA7F-44D8-813B-A319673BC345}" destId="{C27B8CF7-3896-47EA-BF5F-124A26149ABE}" srcOrd="2" destOrd="0" parTransId="{5E8B2E9D-7984-4CFA-8822-A8F094D89DE2}" sibTransId="{EE738403-31E5-4216-8771-9D2E2F90633D}"/>
    <dgm:cxn modelId="{4B56B195-FB0B-44A2-83F7-41633FCDE63F}" srcId="{F97A53CE-AA7F-44D8-813B-A319673BC345}" destId="{F4F872FD-3154-4898-8950-EFF87A754133}" srcOrd="1" destOrd="0" parTransId="{294E1896-B10A-4566-9B45-6DF40263E797}" sibTransId="{B0ABC0A3-FD40-45C1-A0BC-A3970709DE34}"/>
    <dgm:cxn modelId="{4DB8620A-AC78-4D09-8C3B-207179A1CB83}" type="presOf" srcId="{C27B8CF7-3896-47EA-BF5F-124A26149ABE}" destId="{1BD39490-DA6E-4ACA-887B-C81628A7EC24}" srcOrd="0" destOrd="0" presId="urn:microsoft.com/office/officeart/2005/8/layout/vList3"/>
    <dgm:cxn modelId="{26EE2DED-3563-40A8-8AE1-35D4053A6CF3}" type="presOf" srcId="{6E1A2D19-23F9-4D01-A0BE-6335964C05E3}" destId="{71E0C075-4903-4AA1-B98A-2CF82B7D428E}" srcOrd="0" destOrd="0" presId="urn:microsoft.com/office/officeart/2005/8/layout/vList3"/>
    <dgm:cxn modelId="{320202CF-ACA1-48BF-916D-B75CB09165AD}" srcId="{F97A53CE-AA7F-44D8-813B-A319673BC345}" destId="{9F22D910-2706-4536-88C0-9CB387EBD347}" srcOrd="5" destOrd="0" parTransId="{E64FAC84-7949-4628-BD98-05E641A06636}" sibTransId="{9DD0FB17-2A11-4628-A080-EAB5FD6B2165}"/>
    <dgm:cxn modelId="{903F7606-AA48-44F0-AB23-5911A8C42619}" srcId="{F97A53CE-AA7F-44D8-813B-A319673BC345}" destId="{4AE6C90C-4387-4D24-B02B-F00A4A3E14C0}" srcOrd="4" destOrd="0" parTransId="{B83BE501-5DBC-456B-84D6-E8323B4A035B}" sibTransId="{76333376-30CD-4B27-B918-EF43F6B48DDC}"/>
    <dgm:cxn modelId="{DD5DB118-7D7B-427F-9E35-048C78BAA9DA}" type="presOf" srcId="{4AE6C90C-4387-4D24-B02B-F00A4A3E14C0}" destId="{0D48B9FF-7D12-4F97-B5FB-96B22C1C996E}" srcOrd="0" destOrd="0" presId="urn:microsoft.com/office/officeart/2005/8/layout/vList3"/>
    <dgm:cxn modelId="{ED4EC719-961F-42F3-A1AA-16A0E185EB59}" type="presParOf" srcId="{A0630591-009B-4D56-8B0F-DA0251594F81}" destId="{80F069C8-C558-462E-A576-DA068FAF2590}" srcOrd="0" destOrd="0" presId="urn:microsoft.com/office/officeart/2005/8/layout/vList3"/>
    <dgm:cxn modelId="{669E0AD2-AF5A-4F52-B841-EF1872FB4196}" type="presParOf" srcId="{80F069C8-C558-462E-A576-DA068FAF2590}" destId="{A1C37A69-F1D1-4C36-893B-142F867D9B53}" srcOrd="0" destOrd="0" presId="urn:microsoft.com/office/officeart/2005/8/layout/vList3"/>
    <dgm:cxn modelId="{3C594B0E-A4C2-405C-9107-F0461DE26DA5}" type="presParOf" srcId="{80F069C8-C558-462E-A576-DA068FAF2590}" destId="{CD158C26-77F3-4FCC-965E-B65CD1D4B577}" srcOrd="1" destOrd="0" presId="urn:microsoft.com/office/officeart/2005/8/layout/vList3"/>
    <dgm:cxn modelId="{C3AF0917-88CA-4169-9222-48AD011C6BDD}" type="presParOf" srcId="{A0630591-009B-4D56-8B0F-DA0251594F81}" destId="{9BC512D2-181F-4818-BB8A-C21027D5067A}" srcOrd="1" destOrd="0" presId="urn:microsoft.com/office/officeart/2005/8/layout/vList3"/>
    <dgm:cxn modelId="{9B64853E-34C7-43FB-8925-815C29DF3B06}" type="presParOf" srcId="{A0630591-009B-4D56-8B0F-DA0251594F81}" destId="{A9143ECB-18A2-448B-964E-D47C259B1F15}" srcOrd="2" destOrd="0" presId="urn:microsoft.com/office/officeart/2005/8/layout/vList3"/>
    <dgm:cxn modelId="{A43F0EA9-9323-4DD1-A8F4-D8C6B2961245}" type="presParOf" srcId="{A9143ECB-18A2-448B-964E-D47C259B1F15}" destId="{9AE4C310-920B-43E7-B497-3479F6B838CE}" srcOrd="0" destOrd="0" presId="urn:microsoft.com/office/officeart/2005/8/layout/vList3"/>
    <dgm:cxn modelId="{604C2C48-64AA-4066-91C2-5EE33EAC2D4E}" type="presParOf" srcId="{A9143ECB-18A2-448B-964E-D47C259B1F15}" destId="{5CE9EBDD-55BD-4869-8718-BB66CAC5D656}" srcOrd="1" destOrd="0" presId="urn:microsoft.com/office/officeart/2005/8/layout/vList3"/>
    <dgm:cxn modelId="{4F9C0668-C2A7-4817-89C9-A6B3E38401CA}" type="presParOf" srcId="{A0630591-009B-4D56-8B0F-DA0251594F81}" destId="{11546315-08B7-4BA0-9461-BA06AC3CC8B7}" srcOrd="3" destOrd="0" presId="urn:microsoft.com/office/officeart/2005/8/layout/vList3"/>
    <dgm:cxn modelId="{9D22491B-5DE7-40EC-9E4B-C92E0D96FB82}" type="presParOf" srcId="{A0630591-009B-4D56-8B0F-DA0251594F81}" destId="{0E7BC30E-C2B8-4E39-8A74-283D5B5BE1BC}" srcOrd="4" destOrd="0" presId="urn:microsoft.com/office/officeart/2005/8/layout/vList3"/>
    <dgm:cxn modelId="{A69BB328-830A-4071-86A0-D884F022E178}" type="presParOf" srcId="{0E7BC30E-C2B8-4E39-8A74-283D5B5BE1BC}" destId="{50FBDFCA-BAED-4B3B-836F-8DED4E46D1E9}" srcOrd="0" destOrd="0" presId="urn:microsoft.com/office/officeart/2005/8/layout/vList3"/>
    <dgm:cxn modelId="{B2DF7A4B-8479-4283-A034-986174AA4A19}" type="presParOf" srcId="{0E7BC30E-C2B8-4E39-8A74-283D5B5BE1BC}" destId="{1BD39490-DA6E-4ACA-887B-C81628A7EC24}" srcOrd="1" destOrd="0" presId="urn:microsoft.com/office/officeart/2005/8/layout/vList3"/>
    <dgm:cxn modelId="{E869C9F2-30D1-4214-B1AA-DEC9D044CBF4}" type="presParOf" srcId="{A0630591-009B-4D56-8B0F-DA0251594F81}" destId="{E600544C-C3CB-43F5-A83B-0D494BF3335F}" srcOrd="5" destOrd="0" presId="urn:microsoft.com/office/officeart/2005/8/layout/vList3"/>
    <dgm:cxn modelId="{F5C7E761-7907-4F5A-911E-C779D6AB6434}" type="presParOf" srcId="{A0630591-009B-4D56-8B0F-DA0251594F81}" destId="{A07D5A97-BF9D-45BC-B958-4902E6ED5BA7}" srcOrd="6" destOrd="0" presId="urn:microsoft.com/office/officeart/2005/8/layout/vList3"/>
    <dgm:cxn modelId="{9C142413-D405-477A-933F-AAF84047F176}" type="presParOf" srcId="{A07D5A97-BF9D-45BC-B958-4902E6ED5BA7}" destId="{C8B9375A-3C7D-4E0B-BD6B-D856764C9196}" srcOrd="0" destOrd="0" presId="urn:microsoft.com/office/officeart/2005/8/layout/vList3"/>
    <dgm:cxn modelId="{0DAB47CE-485E-4730-8B61-E2D2F64903D9}" type="presParOf" srcId="{A07D5A97-BF9D-45BC-B958-4902E6ED5BA7}" destId="{71E0C075-4903-4AA1-B98A-2CF82B7D428E}" srcOrd="1" destOrd="0" presId="urn:microsoft.com/office/officeart/2005/8/layout/vList3"/>
    <dgm:cxn modelId="{C74662BF-CEDF-4933-BCF5-38E71CD9FB7B}" type="presParOf" srcId="{A0630591-009B-4D56-8B0F-DA0251594F81}" destId="{BABF994B-7401-41DC-B711-5AECB5033E34}" srcOrd="7" destOrd="0" presId="urn:microsoft.com/office/officeart/2005/8/layout/vList3"/>
    <dgm:cxn modelId="{BF100B75-55D2-48B5-8487-468DC2785F14}" type="presParOf" srcId="{A0630591-009B-4D56-8B0F-DA0251594F81}" destId="{AE49B175-5BC9-443A-80A1-97160EC4E8DE}" srcOrd="8" destOrd="0" presId="urn:microsoft.com/office/officeart/2005/8/layout/vList3"/>
    <dgm:cxn modelId="{AFA10B93-A7D7-49EE-9445-EB0ADF826893}" type="presParOf" srcId="{AE49B175-5BC9-443A-80A1-97160EC4E8DE}" destId="{1751CEF8-7E73-49CE-A793-297845F1238F}" srcOrd="0" destOrd="0" presId="urn:microsoft.com/office/officeart/2005/8/layout/vList3"/>
    <dgm:cxn modelId="{EF50D4C8-5D20-40A9-923F-B5D75FF09F03}" type="presParOf" srcId="{AE49B175-5BC9-443A-80A1-97160EC4E8DE}" destId="{0D48B9FF-7D12-4F97-B5FB-96B22C1C996E}" srcOrd="1" destOrd="0" presId="urn:microsoft.com/office/officeart/2005/8/layout/vList3"/>
    <dgm:cxn modelId="{1451F28F-B4BA-4C05-8D8B-D3E4D562DF0D}" type="presParOf" srcId="{A0630591-009B-4D56-8B0F-DA0251594F81}" destId="{6A0E6162-9EBC-42FC-9C65-B81AB9E39B96}" srcOrd="9" destOrd="0" presId="urn:microsoft.com/office/officeart/2005/8/layout/vList3"/>
    <dgm:cxn modelId="{297508BC-726E-44D1-89A0-E68CD974089F}" type="presParOf" srcId="{A0630591-009B-4D56-8B0F-DA0251594F81}" destId="{8C67BCC2-B741-47D8-98F9-3F05D68D0132}" srcOrd="10" destOrd="0" presId="urn:microsoft.com/office/officeart/2005/8/layout/vList3"/>
    <dgm:cxn modelId="{856D0A69-E0F5-4493-AE00-682B1842E59F}" type="presParOf" srcId="{8C67BCC2-B741-47D8-98F9-3F05D68D0132}" destId="{E6630DE7-D0C6-4FA9-84BD-87E1DBD1A0BE}" srcOrd="0" destOrd="0" presId="urn:microsoft.com/office/officeart/2005/8/layout/vList3"/>
    <dgm:cxn modelId="{51C132E5-A8F6-4DE0-B09C-3A1A2F8B0C55}" type="presParOf" srcId="{8C67BCC2-B741-47D8-98F9-3F05D68D0132}" destId="{6EF07FBD-0644-421F-8C4A-854E175AB3C7}"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537BB5-FC4A-450E-9254-92B3DD2FFA75}">
      <dsp:nvSpPr>
        <dsp:cNvPr id="0" name=""/>
        <dsp:cNvSpPr/>
      </dsp:nvSpPr>
      <dsp:spPr>
        <a:xfrm rot="10800000">
          <a:off x="1216022" y="1828"/>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121920" rIns="227584" bIns="121920" numCol="1" spcCol="1270" anchor="ctr" anchorCtr="0">
          <a:noAutofit/>
        </a:bodyPr>
        <a:lstStyle/>
        <a:p>
          <a:pPr lvl="0" algn="ctr" defTabSz="1422400" rtl="0">
            <a:lnSpc>
              <a:spcPct val="90000"/>
            </a:lnSpc>
            <a:spcBef>
              <a:spcPct val="0"/>
            </a:spcBef>
            <a:spcAft>
              <a:spcPct val="35000"/>
            </a:spcAft>
          </a:pPr>
          <a:r>
            <a:rPr lang="en-US" sz="3200" b="1" kern="1200" dirty="0" smtClean="0">
              <a:solidFill>
                <a:schemeClr val="tx1"/>
              </a:solidFill>
              <a:latin typeface="Times New Roman" panose="02020603050405020304" pitchFamily="18" charset="0"/>
              <a:cs typeface="Times New Roman" panose="02020603050405020304" pitchFamily="18" charset="0"/>
            </a:rPr>
            <a:t>Impact</a:t>
          </a:r>
          <a:endParaRPr lang="en-IN" sz="3200" kern="1200" dirty="0">
            <a:solidFill>
              <a:schemeClr val="tx1"/>
            </a:solidFill>
            <a:latin typeface="Times New Roman" panose="02020603050405020304" pitchFamily="18" charset="0"/>
            <a:cs typeface="Times New Roman" panose="02020603050405020304" pitchFamily="18" charset="0"/>
          </a:endParaRPr>
        </a:p>
      </dsp:txBody>
      <dsp:txXfrm rot="10800000">
        <a:off x="1410964" y="1828"/>
        <a:ext cx="3858898" cy="779770"/>
      </dsp:txXfrm>
    </dsp:sp>
    <dsp:sp modelId="{214A376B-C47A-44F9-BDF2-83D572405F6D}">
      <dsp:nvSpPr>
        <dsp:cNvPr id="0" name=""/>
        <dsp:cNvSpPr/>
      </dsp:nvSpPr>
      <dsp:spPr>
        <a:xfrm>
          <a:off x="826137" y="1828"/>
          <a:ext cx="779770" cy="77977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1E9F1A-9623-4944-8F22-192EF334CEDD}">
      <dsp:nvSpPr>
        <dsp:cNvPr id="0" name=""/>
        <dsp:cNvSpPr/>
      </dsp:nvSpPr>
      <dsp:spPr>
        <a:xfrm rot="10800000">
          <a:off x="1216022" y="1014366"/>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Awareness &amp; Education</a:t>
          </a:r>
          <a:r>
            <a:rPr lang="en-US" sz="1400" kern="1200" dirty="0" smtClean="0">
              <a:solidFill>
                <a:schemeClr val="tx1"/>
              </a:solidFill>
              <a:latin typeface="Times New Roman" panose="02020603050405020304" pitchFamily="18" charset="0"/>
              <a:cs typeface="Times New Roman" panose="02020603050405020304" pitchFamily="18" charset="0"/>
            </a:rPr>
            <a:t> – Raises public understanding of weather unpredictability and its effects on daily life, events, or climate change.</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0964" y="1014366"/>
        <a:ext cx="3858898" cy="779770"/>
      </dsp:txXfrm>
    </dsp:sp>
    <dsp:sp modelId="{6D6A52C7-85A7-49D7-8B11-BD2CAB4DA2E0}">
      <dsp:nvSpPr>
        <dsp:cNvPr id="0" name=""/>
        <dsp:cNvSpPr/>
      </dsp:nvSpPr>
      <dsp:spPr>
        <a:xfrm>
          <a:off x="826137" y="1014366"/>
          <a:ext cx="779770" cy="779770"/>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0607C5-BBFB-4442-9AEA-C59D0A08C4CC}">
      <dsp:nvSpPr>
        <dsp:cNvPr id="0" name=""/>
        <dsp:cNvSpPr/>
      </dsp:nvSpPr>
      <dsp:spPr>
        <a:xfrm rot="10800000">
          <a:off x="1216022" y="2026903"/>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Preparedness</a:t>
          </a:r>
          <a:r>
            <a:rPr lang="en-US" sz="1400" kern="1200" dirty="0" smtClean="0">
              <a:solidFill>
                <a:schemeClr val="tx1"/>
              </a:solidFill>
              <a:latin typeface="Times New Roman" panose="02020603050405020304" pitchFamily="18" charset="0"/>
              <a:cs typeface="Times New Roman" panose="02020603050405020304" pitchFamily="18" charset="0"/>
            </a:rPr>
            <a:t> – Equips individuals/communities with tools to anticipate and adapt to disruptions (whether literal rain or metaphorical obstacles).</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0964" y="2026903"/>
        <a:ext cx="3858898" cy="779770"/>
      </dsp:txXfrm>
    </dsp:sp>
    <dsp:sp modelId="{3E176E77-AFD1-45A7-BDB9-08EE93D2D143}">
      <dsp:nvSpPr>
        <dsp:cNvPr id="0" name=""/>
        <dsp:cNvSpPr/>
      </dsp:nvSpPr>
      <dsp:spPr>
        <a:xfrm>
          <a:off x="826137" y="2026903"/>
          <a:ext cx="779770" cy="779770"/>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C3F0DE-6CA6-46E4-8DAC-C5BDE7F8CD01}">
      <dsp:nvSpPr>
        <dsp:cNvPr id="0" name=""/>
        <dsp:cNvSpPr/>
      </dsp:nvSpPr>
      <dsp:spPr>
        <a:xfrm rot="10800000">
          <a:off x="1216022" y="3039440"/>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Innovation &amp; Solutions</a:t>
          </a:r>
          <a:r>
            <a:rPr lang="en-US" sz="1400" kern="1200" dirty="0" smtClean="0">
              <a:solidFill>
                <a:schemeClr val="tx1"/>
              </a:solidFill>
              <a:latin typeface="Times New Roman" panose="02020603050405020304" pitchFamily="18" charset="0"/>
              <a:cs typeface="Times New Roman" panose="02020603050405020304" pitchFamily="18" charset="0"/>
            </a:rPr>
            <a:t> – Encourages new systems, apps, or approaches to forecast, plan, and mitigate risks.</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0964" y="3039440"/>
        <a:ext cx="3858898" cy="779770"/>
      </dsp:txXfrm>
    </dsp:sp>
    <dsp:sp modelId="{6C7DF8B2-66BE-4407-B7A2-3036F4538CB3}">
      <dsp:nvSpPr>
        <dsp:cNvPr id="0" name=""/>
        <dsp:cNvSpPr/>
      </dsp:nvSpPr>
      <dsp:spPr>
        <a:xfrm>
          <a:off x="826137" y="3039440"/>
          <a:ext cx="779770" cy="779770"/>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0EC2FA-A517-485E-A510-7D8D080ADFEE}">
      <dsp:nvSpPr>
        <dsp:cNvPr id="0" name=""/>
        <dsp:cNvSpPr/>
      </dsp:nvSpPr>
      <dsp:spPr>
        <a:xfrm rot="10800000">
          <a:off x="1216022" y="4051977"/>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Community Resilience</a:t>
          </a:r>
          <a:r>
            <a:rPr lang="en-US" sz="1400" kern="1200" dirty="0" smtClean="0">
              <a:solidFill>
                <a:schemeClr val="tx1"/>
              </a:solidFill>
              <a:latin typeface="Times New Roman" panose="02020603050405020304" pitchFamily="18" charset="0"/>
              <a:cs typeface="Times New Roman" panose="02020603050405020304" pitchFamily="18" charset="0"/>
            </a:rPr>
            <a:t> – Strengthens collaboration and collective action when facing disruptions</a:t>
          </a:r>
          <a:r>
            <a:rPr lang="en-US" sz="1500" kern="1200" dirty="0" smtClean="0">
              <a:solidFill>
                <a:schemeClr val="tx1"/>
              </a:solidFill>
            </a:rPr>
            <a:t>.</a:t>
          </a:r>
          <a:endParaRPr lang="en-IN" sz="1500" kern="1200" dirty="0">
            <a:solidFill>
              <a:schemeClr val="tx1"/>
            </a:solidFill>
          </a:endParaRPr>
        </a:p>
      </dsp:txBody>
      <dsp:txXfrm rot="10800000">
        <a:off x="1410964" y="4051977"/>
        <a:ext cx="3858898" cy="779770"/>
      </dsp:txXfrm>
    </dsp:sp>
    <dsp:sp modelId="{728BA049-792E-43BC-A09B-8D761A026748}">
      <dsp:nvSpPr>
        <dsp:cNvPr id="0" name=""/>
        <dsp:cNvSpPr/>
      </dsp:nvSpPr>
      <dsp:spPr>
        <a:xfrm>
          <a:off x="826137" y="4051977"/>
          <a:ext cx="779770" cy="779770"/>
        </a:xfrm>
        <a:prstGeom prst="ellipse">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F127DC-26E1-4DE7-90E7-3DE66618041C}">
      <dsp:nvSpPr>
        <dsp:cNvPr id="0" name=""/>
        <dsp:cNvSpPr/>
      </dsp:nvSpPr>
      <dsp:spPr>
        <a:xfrm rot="10800000">
          <a:off x="1216022" y="5064515"/>
          <a:ext cx="4053840" cy="779770"/>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3857"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Cultural Shift</a:t>
          </a:r>
          <a:r>
            <a:rPr lang="en-US" sz="1400" kern="1200" dirty="0" smtClean="0">
              <a:solidFill>
                <a:schemeClr val="tx1"/>
              </a:solidFill>
              <a:latin typeface="Times New Roman" panose="02020603050405020304" pitchFamily="18" charset="0"/>
              <a:cs typeface="Times New Roman" panose="02020603050405020304" pitchFamily="18" charset="0"/>
            </a:rPr>
            <a:t> – Helps normalize adaptability and optimism in the face of uncertainty.</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0964" y="5064515"/>
        <a:ext cx="3858898" cy="779770"/>
      </dsp:txXfrm>
    </dsp:sp>
    <dsp:sp modelId="{0A7D216A-43B8-46D6-B983-EF8CFA234C35}">
      <dsp:nvSpPr>
        <dsp:cNvPr id="0" name=""/>
        <dsp:cNvSpPr/>
      </dsp:nvSpPr>
      <dsp:spPr>
        <a:xfrm>
          <a:off x="826137" y="5064515"/>
          <a:ext cx="779770" cy="779770"/>
        </a:xfrm>
        <a:prstGeom prst="ellipse">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58C26-77F3-4FCC-965E-B65CD1D4B577}">
      <dsp:nvSpPr>
        <dsp:cNvPr id="0" name=""/>
        <dsp:cNvSpPr/>
      </dsp:nvSpPr>
      <dsp:spPr>
        <a:xfrm rot="10800000">
          <a:off x="1219761" y="2401"/>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129540" rIns="241808" bIns="129540" numCol="1" spcCol="1270" anchor="ctr" anchorCtr="0">
          <a:noAutofit/>
        </a:bodyPr>
        <a:lstStyle/>
        <a:p>
          <a:pPr lvl="0" algn="ctr" defTabSz="1511300" rtl="0">
            <a:lnSpc>
              <a:spcPct val="90000"/>
            </a:lnSpc>
            <a:spcBef>
              <a:spcPct val="0"/>
            </a:spcBef>
            <a:spcAft>
              <a:spcPct val="35000"/>
            </a:spcAft>
          </a:pPr>
          <a:r>
            <a:rPr lang="en-US" sz="3400" b="1" kern="1200" dirty="0" smtClean="0">
              <a:solidFill>
                <a:schemeClr val="tx1"/>
              </a:solidFill>
            </a:rPr>
            <a:t>Benefits</a:t>
          </a:r>
          <a:endParaRPr lang="en-IN" sz="3400" kern="1200" dirty="0">
            <a:solidFill>
              <a:schemeClr val="tx1"/>
            </a:solidFill>
          </a:endParaRPr>
        </a:p>
      </dsp:txBody>
      <dsp:txXfrm rot="10800000">
        <a:off x="1418443" y="2401"/>
        <a:ext cx="3855158" cy="794727"/>
      </dsp:txXfrm>
    </dsp:sp>
    <dsp:sp modelId="{A1C37A69-F1D1-4C36-893B-142F867D9B53}">
      <dsp:nvSpPr>
        <dsp:cNvPr id="0" name=""/>
        <dsp:cNvSpPr/>
      </dsp:nvSpPr>
      <dsp:spPr>
        <a:xfrm>
          <a:off x="822398" y="2401"/>
          <a:ext cx="794727" cy="794727"/>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1000" b="-3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CE9EBDD-55BD-4869-8718-BB66CAC5D656}">
      <dsp:nvSpPr>
        <dsp:cNvPr id="0" name=""/>
        <dsp:cNvSpPr/>
      </dsp:nvSpPr>
      <dsp:spPr>
        <a:xfrm rot="10800000">
          <a:off x="1219761" y="1034360"/>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Practical</a:t>
          </a:r>
          <a:r>
            <a:rPr lang="en-US" sz="1400" kern="1200" dirty="0" smtClean="0">
              <a:solidFill>
                <a:schemeClr val="tx1"/>
              </a:solidFill>
              <a:latin typeface="Times New Roman" panose="02020603050405020304" pitchFamily="18" charset="0"/>
              <a:cs typeface="Times New Roman" panose="02020603050405020304" pitchFamily="18" charset="0"/>
            </a:rPr>
            <a:t>: Fewer disruptions to events, better planning, reduced costs from cancellations or damages</a:t>
          </a:r>
          <a:r>
            <a:rPr lang="en-US" sz="1500" kern="1200" dirty="0" smtClean="0"/>
            <a:t>.</a:t>
          </a:r>
          <a:endParaRPr lang="en-IN" sz="1500" kern="1200" dirty="0"/>
        </a:p>
      </dsp:txBody>
      <dsp:txXfrm rot="10800000">
        <a:off x="1418443" y="1034360"/>
        <a:ext cx="3855158" cy="794727"/>
      </dsp:txXfrm>
    </dsp:sp>
    <dsp:sp modelId="{9AE4C310-920B-43E7-B497-3479F6B838CE}">
      <dsp:nvSpPr>
        <dsp:cNvPr id="0" name=""/>
        <dsp:cNvSpPr/>
      </dsp:nvSpPr>
      <dsp:spPr>
        <a:xfrm>
          <a:off x="822398" y="1034360"/>
          <a:ext cx="794727" cy="794727"/>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D39490-DA6E-4ACA-887B-C81628A7EC24}">
      <dsp:nvSpPr>
        <dsp:cNvPr id="0" name=""/>
        <dsp:cNvSpPr/>
      </dsp:nvSpPr>
      <dsp:spPr>
        <a:xfrm rot="10800000">
          <a:off x="1219761" y="2066319"/>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Social</a:t>
          </a:r>
          <a:r>
            <a:rPr lang="en-US" sz="1400" kern="1200" dirty="0" smtClean="0">
              <a:solidFill>
                <a:schemeClr val="tx1"/>
              </a:solidFill>
              <a:latin typeface="Times New Roman" panose="02020603050405020304" pitchFamily="18" charset="0"/>
              <a:cs typeface="Times New Roman" panose="02020603050405020304" pitchFamily="18" charset="0"/>
            </a:rPr>
            <a:t>: Stronger community trust, participation, and shared responsibility.</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8443" y="2066319"/>
        <a:ext cx="3855158" cy="794727"/>
      </dsp:txXfrm>
    </dsp:sp>
    <dsp:sp modelId="{50FBDFCA-BAED-4B3B-836F-8DED4E46D1E9}">
      <dsp:nvSpPr>
        <dsp:cNvPr id="0" name=""/>
        <dsp:cNvSpPr/>
      </dsp:nvSpPr>
      <dsp:spPr>
        <a:xfrm>
          <a:off x="822398" y="2066319"/>
          <a:ext cx="794727" cy="794727"/>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E0C075-4903-4AA1-B98A-2CF82B7D428E}">
      <dsp:nvSpPr>
        <dsp:cNvPr id="0" name=""/>
        <dsp:cNvSpPr/>
      </dsp:nvSpPr>
      <dsp:spPr>
        <a:xfrm rot="10800000">
          <a:off x="1219761" y="3098279"/>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Personal</a:t>
          </a:r>
          <a:r>
            <a:rPr lang="en-US" sz="1400" kern="1200" dirty="0" smtClean="0">
              <a:solidFill>
                <a:schemeClr val="tx1"/>
              </a:solidFill>
              <a:latin typeface="Times New Roman" panose="02020603050405020304" pitchFamily="18" charset="0"/>
              <a:cs typeface="Times New Roman" panose="02020603050405020304" pitchFamily="18" charset="0"/>
            </a:rPr>
            <a:t>: Increased confidence, reduced anxiety about uncertainty.</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8443" y="3098279"/>
        <a:ext cx="3855158" cy="794727"/>
      </dsp:txXfrm>
    </dsp:sp>
    <dsp:sp modelId="{C8B9375A-3C7D-4E0B-BD6B-D856764C9196}">
      <dsp:nvSpPr>
        <dsp:cNvPr id="0" name=""/>
        <dsp:cNvSpPr/>
      </dsp:nvSpPr>
      <dsp:spPr>
        <a:xfrm>
          <a:off x="822398" y="3098279"/>
          <a:ext cx="794727" cy="794727"/>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48B9FF-7D12-4F97-B5FB-96B22C1C996E}">
      <dsp:nvSpPr>
        <dsp:cNvPr id="0" name=""/>
        <dsp:cNvSpPr/>
      </dsp:nvSpPr>
      <dsp:spPr>
        <a:xfrm rot="10800000">
          <a:off x="1219761" y="4130238"/>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Economic</a:t>
          </a:r>
          <a:r>
            <a:rPr lang="en-US" sz="1400" kern="1200" dirty="0" smtClean="0">
              <a:solidFill>
                <a:schemeClr val="tx1"/>
              </a:solidFill>
              <a:latin typeface="Times New Roman" panose="02020603050405020304" pitchFamily="18" charset="0"/>
              <a:cs typeface="Times New Roman" panose="02020603050405020304" pitchFamily="18" charset="0"/>
            </a:rPr>
            <a:t>: Savings through efficient planning, new opportunities for weather-tech innovation.</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8443" y="4130238"/>
        <a:ext cx="3855158" cy="794727"/>
      </dsp:txXfrm>
    </dsp:sp>
    <dsp:sp modelId="{1751CEF8-7E73-49CE-A793-297845F1238F}">
      <dsp:nvSpPr>
        <dsp:cNvPr id="0" name=""/>
        <dsp:cNvSpPr/>
      </dsp:nvSpPr>
      <dsp:spPr>
        <a:xfrm>
          <a:off x="822398" y="4130238"/>
          <a:ext cx="794727" cy="794727"/>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F07FBD-0644-421F-8C4A-854E175AB3C7}">
      <dsp:nvSpPr>
        <dsp:cNvPr id="0" name=""/>
        <dsp:cNvSpPr/>
      </dsp:nvSpPr>
      <dsp:spPr>
        <a:xfrm rot="10800000">
          <a:off x="1219761" y="5162197"/>
          <a:ext cx="4053840" cy="794727"/>
        </a:xfrm>
        <a:prstGeom prst="homePlate">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453" tIns="53340" rIns="99568" bIns="53340" numCol="1" spcCol="1270" anchor="ctr" anchorCtr="0">
          <a:noAutofit/>
        </a:bodyPr>
        <a:lstStyle/>
        <a:p>
          <a:pPr lvl="0" algn="ctr" defTabSz="622300" rtl="0">
            <a:lnSpc>
              <a:spcPct val="90000"/>
            </a:lnSpc>
            <a:spcBef>
              <a:spcPct val="0"/>
            </a:spcBef>
            <a:spcAft>
              <a:spcPct val="35000"/>
            </a:spcAft>
          </a:pPr>
          <a:r>
            <a:rPr lang="en-US" sz="1400" b="1" kern="1200" dirty="0" smtClean="0">
              <a:solidFill>
                <a:schemeClr val="tx1"/>
              </a:solidFill>
              <a:latin typeface="Times New Roman" panose="02020603050405020304" pitchFamily="18" charset="0"/>
              <a:cs typeface="Times New Roman" panose="02020603050405020304" pitchFamily="18" charset="0"/>
            </a:rPr>
            <a:t>Environmental</a:t>
          </a:r>
          <a:r>
            <a:rPr lang="en-US" sz="1400" kern="1200" dirty="0" smtClean="0">
              <a:solidFill>
                <a:schemeClr val="tx1"/>
              </a:solidFill>
              <a:latin typeface="Times New Roman" panose="02020603050405020304" pitchFamily="18" charset="0"/>
              <a:cs typeface="Times New Roman" panose="02020603050405020304" pitchFamily="18" charset="0"/>
            </a:rPr>
            <a:t>: More sustainable choices by planning around climate impacts.</a:t>
          </a:r>
          <a:endParaRPr lang="en-IN" sz="1400" kern="1200" dirty="0">
            <a:solidFill>
              <a:schemeClr val="tx1"/>
            </a:solidFill>
            <a:latin typeface="Times New Roman" panose="02020603050405020304" pitchFamily="18" charset="0"/>
            <a:cs typeface="Times New Roman" panose="02020603050405020304" pitchFamily="18" charset="0"/>
          </a:endParaRPr>
        </a:p>
      </dsp:txBody>
      <dsp:txXfrm rot="10800000">
        <a:off x="1418443" y="5162197"/>
        <a:ext cx="3855158" cy="794727"/>
      </dsp:txXfrm>
    </dsp:sp>
    <dsp:sp modelId="{E6630DE7-D0C6-4FA9-84BD-87E1DBD1A0BE}">
      <dsp:nvSpPr>
        <dsp:cNvPr id="0" name=""/>
        <dsp:cNvSpPr/>
      </dsp:nvSpPr>
      <dsp:spPr>
        <a:xfrm>
          <a:off x="822398" y="5162197"/>
          <a:ext cx="794727" cy="794727"/>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1000" b="-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jQp9_JZnfU6JDFzegSUMXNCRKRhQ_h3V/view?usp=sharing"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s://satelite.cptec.inpe.br/home/index.jsp" TargetMode="External"/><Relationship Id="rId3" Type="http://schemas.openxmlformats.org/officeDocument/2006/relationships/hyperlink" Target="https://giovanni.gsfc.nasa.gov/" TargetMode="External"/><Relationship Id="rId7" Type="http://schemas.openxmlformats.org/officeDocument/2006/relationships/hyperlink" Target="https://disc.gsfc.nasa.gov/information/howto?page=1&amp;dataTools=Python" TargetMode="External"/><Relationship Id="rId2" Type="http://schemas.openxmlformats.org/officeDocument/2006/relationships/hyperlink" Target="https://disc.gsfc.nasa.gov/information/tools?title=OPeNDAP%20and%20GDS" TargetMode="External"/><Relationship Id="rId1" Type="http://schemas.openxmlformats.org/officeDocument/2006/relationships/slideLayout" Target="../slideLayouts/slideLayout7.xml"/><Relationship Id="rId6" Type="http://schemas.openxmlformats.org/officeDocument/2006/relationships/hyperlink" Target="https://search.earthdata.nasa.gov/search" TargetMode="External"/><Relationship Id="rId5" Type="http://schemas.openxmlformats.org/officeDocument/2006/relationships/hyperlink" Target="https://worldview.earthdata.nasa.gov/" TargetMode="External"/><Relationship Id="rId4" Type="http://schemas.openxmlformats.org/officeDocument/2006/relationships/hyperlink" Target="https://disc.gsfc.nasa.gov/information/tools?title=Hydrology%20Data%20Rods" TargetMode="External"/><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2" y="0"/>
            <a:ext cx="12197540" cy="6853963"/>
          </a:xfrm>
          <a:solidFill>
            <a:schemeClr val="bg1"/>
          </a:solidFill>
          <a:ln>
            <a:solidFill>
              <a:schemeClr val="bg1"/>
            </a:solidFill>
          </a:ln>
        </p:spPr>
        <p:txBody>
          <a:bodyPr vert="horz" lIns="91440" tIns="45720" rIns="91440" bIns="45720" rtlCol="0" anchor="ctr">
            <a:normAutofit fontScale="90000"/>
          </a:bodyPr>
          <a:lstStyle/>
          <a:p>
            <a:pPr algn="l"/>
            <a:r>
              <a:rPr lang="en-US" b="1" dirty="0">
                <a:solidFill>
                  <a:schemeClr val="accent2"/>
                </a:solidFill>
              </a:rPr>
              <a:t>    </a:t>
            </a:r>
            <a:r>
              <a:rPr lang="en-US" b="1" dirty="0"/>
              <a:t>  </a:t>
            </a:r>
            <a:r>
              <a:rPr lang="en-US" b="1" dirty="0" smtClean="0"/>
              <a:t>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NASA </a:t>
            </a:r>
            <a:r>
              <a:rPr lang="en-US" b="1" dirty="0"/>
              <a:t>SPACE APP CHALLENGE 2025</a:t>
            </a:r>
            <a:r>
              <a:rPr lang="en-US" sz="5300" b="1" dirty="0"/>
              <a:t/>
            </a:r>
            <a:br>
              <a:rPr lang="en-US" sz="5300" b="1" dirty="0"/>
            </a:br>
            <a:r>
              <a:rPr lang="en-US" sz="5300" b="1" dirty="0"/>
              <a:t/>
            </a:r>
            <a:br>
              <a:rPr lang="en-US" sz="5300" b="1" dirty="0"/>
            </a:br>
            <a:r>
              <a:rPr lang="en-US" sz="3100" b="1" dirty="0">
                <a:latin typeface="Times New Roman" panose="02020603050405020304" pitchFamily="18" charset="0"/>
                <a:cs typeface="Times New Roman" panose="02020603050405020304" pitchFamily="18" charset="0"/>
              </a:rPr>
              <a:t>Challenge</a:t>
            </a:r>
            <a:r>
              <a:rPr lang="en-US" sz="4400" b="1" dirty="0"/>
              <a:t>-</a:t>
            </a:r>
            <a:r>
              <a:rPr lang="en-US" sz="2700" dirty="0">
                <a:latin typeface="Times New Roman" panose="02020603050405020304" pitchFamily="18" charset="0"/>
                <a:cs typeface="Times New Roman" panose="02020603050405020304" pitchFamily="18" charset="0"/>
              </a:rPr>
              <a:t>Will</a:t>
            </a:r>
            <a:r>
              <a:rPr lang="en-US" sz="3600" dirty="0"/>
              <a:t> </a:t>
            </a:r>
            <a:r>
              <a:rPr lang="en-US" sz="2700" dirty="0">
                <a:latin typeface="Times New Roman" panose="02020603050405020304" pitchFamily="18" charset="0"/>
                <a:cs typeface="Times New Roman" panose="02020603050405020304" pitchFamily="18" charset="0"/>
              </a:rPr>
              <a:t>it Rain on my parade? </a:t>
            </a:r>
            <a:r>
              <a:rPr lang="en-US" sz="4400" b="1" dirty="0"/>
              <a:t/>
            </a:r>
            <a:br>
              <a:rPr lang="en-US" sz="4400" b="1" dirty="0"/>
            </a:br>
            <a:r>
              <a:rPr lang="en-US" sz="3600" dirty="0"/>
              <a:t>    </a:t>
            </a:r>
            <a:br>
              <a:rPr lang="en-US" sz="3600" dirty="0"/>
            </a:br>
            <a:r>
              <a:rPr lang="en-US" sz="3100" b="1" dirty="0">
                <a:latin typeface="Times New Roman" panose="02020603050405020304" pitchFamily="18" charset="0"/>
                <a:cs typeface="Times New Roman" panose="02020603050405020304" pitchFamily="18" charset="0"/>
              </a:rPr>
              <a:t>Subjects</a:t>
            </a:r>
            <a:r>
              <a:rPr lang="en-US" sz="4400" b="1" dirty="0"/>
              <a:t>-</a:t>
            </a:r>
            <a:r>
              <a:rPr lang="en-US" sz="2700" dirty="0">
                <a:latin typeface="Times New Roman" panose="02020603050405020304" pitchFamily="18" charset="0"/>
                <a:cs typeface="Times New Roman" panose="02020603050405020304" pitchFamily="18" charset="0"/>
              </a:rPr>
              <a:t>Coding,  Data Analysis , Data visualization  </a:t>
            </a:r>
            <a:r>
              <a:rPr lang="en-US" sz="2700" dirty="0" smtClean="0">
                <a:latin typeface="Times New Roman" panose="02020603050405020304" pitchFamily="18" charset="0"/>
                <a:cs typeface="Times New Roman" panose="02020603050405020304" pitchFamily="18" charset="0"/>
              </a:rPr>
              <a:t>,</a:t>
            </a:r>
            <a:br>
              <a:rPr lang="en-US" sz="2700" dirty="0" smtClean="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cs typeface="Times New Roman" panose="02020603050405020304" pitchFamily="18" charset="0"/>
              </a:rPr>
              <a:t>                          Forecast, </a:t>
            </a:r>
            <a:r>
              <a:rPr lang="en-US" sz="2700" dirty="0">
                <a:latin typeface="Times New Roman" panose="02020603050405020304" pitchFamily="18" charset="0"/>
                <a:cs typeface="Times New Roman" panose="02020603050405020304" pitchFamily="18" charset="0"/>
              </a:rPr>
              <a:t>Software, Weather ,Web Development  </a:t>
            </a:r>
            <a:r>
              <a:rPr lang="en-US" sz="4900" dirty="0"/>
              <a:t/>
            </a:r>
            <a:br>
              <a:rPr lang="en-US" sz="4900" dirty="0"/>
            </a:br>
            <a:r>
              <a:rPr lang="en-US" sz="3600" dirty="0"/>
              <a:t>   </a:t>
            </a:r>
            <a:br>
              <a:rPr lang="en-US" sz="3600" dirty="0"/>
            </a:br>
            <a:r>
              <a:rPr lang="en-US" sz="3100" b="1" dirty="0">
                <a:latin typeface="Times New Roman" panose="02020603050405020304" pitchFamily="18" charset="0"/>
                <a:cs typeface="Times New Roman" panose="02020603050405020304" pitchFamily="18" charset="0"/>
              </a:rPr>
              <a:t>Team Name</a:t>
            </a:r>
            <a:r>
              <a:rPr lang="en-US" sz="3100" dirty="0">
                <a:latin typeface="Times New Roman" panose="02020603050405020304" pitchFamily="18" charset="0"/>
                <a:cs typeface="Times New Roman" panose="02020603050405020304" pitchFamily="18" charset="0"/>
              </a:rPr>
              <a:t>- </a:t>
            </a:r>
            <a:r>
              <a:rPr lang="en-US" sz="2700" dirty="0">
                <a:latin typeface="Times New Roman" panose="02020603050405020304" pitchFamily="18" charset="0"/>
                <a:cs typeface="Times New Roman" panose="02020603050405020304" pitchFamily="18" charset="0"/>
              </a:rPr>
              <a:t>Team Coders</a:t>
            </a:r>
            <a:br>
              <a:rPr lang="en-US" sz="27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
            </a:r>
            <a:br>
              <a:rPr lang="en-US" sz="3100" b="1"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App Name</a:t>
            </a:r>
            <a:r>
              <a:rPr lang="en-US" sz="3100" dirty="0">
                <a:latin typeface="Times New Roman" panose="02020603050405020304" pitchFamily="18" charset="0"/>
                <a:cs typeface="Times New Roman" panose="02020603050405020304" pitchFamily="18" charset="0"/>
              </a:rPr>
              <a:t>- </a:t>
            </a:r>
            <a:r>
              <a:rPr lang="en-US" sz="3100" dirty="0" smtClean="0"/>
              <a:t>orbitWx</a:t>
            </a:r>
            <a:r>
              <a:rPr lang="en-US" sz="2400" dirty="0" smtClean="0">
                <a:latin typeface="Times New Roman" panose="02020603050405020304" pitchFamily="18" charset="0"/>
                <a:cs typeface="Times New Roman" panose="02020603050405020304" pitchFamily="18" charset="0"/>
              </a:rPr>
              <a:t>(plan your day with confidence.)</a:t>
            </a:r>
            <a:r>
              <a:rPr lang="en-US" sz="5300" b="1" dirty="0"/>
              <a:t/>
            </a:r>
            <a:br>
              <a:rPr lang="en-US" sz="5300" b="1" dirty="0"/>
            </a:br>
            <a:r>
              <a:rPr lang="en-US" sz="5300" b="1" dirty="0"/>
              <a:t/>
            </a:r>
            <a:br>
              <a:rPr lang="en-US" sz="5300" b="1" dirty="0"/>
            </a:br>
            <a:r>
              <a:rPr lang="en-US" sz="5300" b="1" dirty="0">
                <a:solidFill>
                  <a:schemeClr val="accent2"/>
                </a:solidFill>
              </a:rPr>
              <a:t/>
            </a:r>
            <a:br>
              <a:rPr lang="en-US" sz="5300" b="1" dirty="0">
                <a:solidFill>
                  <a:schemeClr val="accent2"/>
                </a:solidFill>
              </a:rPr>
            </a:br>
            <a:r>
              <a:rPr lang="en-US" sz="5300" b="1" dirty="0"/>
              <a:t/>
            </a:r>
            <a:br>
              <a:rPr lang="en-US" sz="5300" b="1" dirty="0"/>
            </a:br>
            <a:r>
              <a:rPr lang="en-US" sz="5300" b="1" dirty="0"/>
              <a:t/>
            </a:r>
            <a:br>
              <a:rPr lang="en-US" sz="5300" b="1" dirty="0"/>
            </a:br>
            <a:r>
              <a:rPr lang="en-US" sz="5300" b="1" dirty="0">
                <a:solidFill>
                  <a:schemeClr val="accent2"/>
                </a:solidFill>
              </a:rPr>
              <a:t> </a:t>
            </a:r>
            <a:endParaRPr lang="en-US" dirty="0">
              <a:solidFill>
                <a:schemeClr val="accent2"/>
              </a:solidFill>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82" y="2446472"/>
            <a:ext cx="3620436" cy="364112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863" y="522514"/>
            <a:ext cx="1426929" cy="1262743"/>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xmlns="" id="{AE41EDE0-97B7-FAFF-27F7-7FC24C39AFAA}"/>
              </a:ext>
            </a:extLst>
          </p:cNvPr>
          <p:cNvSpPr/>
          <p:nvPr/>
        </p:nvSpPr>
        <p:spPr>
          <a:xfrm>
            <a:off x="37072" y="753408"/>
            <a:ext cx="12117858" cy="2660351"/>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dirty="0">
              <a:solidFill>
                <a:schemeClr val="tx1"/>
              </a:solidFill>
            </a:endParaRPr>
          </a:p>
          <a:p>
            <a:endParaRPr lang="en-US" sz="2400" dirty="0">
              <a:solidFill>
                <a:schemeClr val="tx1"/>
              </a:solidFill>
            </a:endParaRPr>
          </a:p>
          <a:p>
            <a:endParaRPr lang="en-US" sz="3200" b="1" dirty="0" smtClean="0">
              <a:solidFill>
                <a:schemeClr val="tx1"/>
              </a:solidFill>
            </a:endParaRPr>
          </a:p>
          <a:p>
            <a:endParaRPr lang="en-US" sz="3200" b="1" dirty="0" smtClean="0">
              <a:solidFill>
                <a:schemeClr val="tx1"/>
              </a:solidFill>
              <a:latin typeface="Times New Roman" panose="02020603050405020304" pitchFamily="18" charset="0"/>
              <a:cs typeface="Times New Roman" panose="02020603050405020304" pitchFamily="18" charset="0"/>
            </a:endParaRPr>
          </a:p>
          <a:p>
            <a:endParaRPr lang="en-US" sz="3200" b="1" dirty="0">
              <a:solidFill>
                <a:schemeClr val="tx1"/>
              </a:solidFill>
              <a:latin typeface="Times New Roman" panose="02020603050405020304" pitchFamily="18" charset="0"/>
              <a:cs typeface="Times New Roman" panose="02020603050405020304" pitchFamily="18" charset="0"/>
            </a:endParaRPr>
          </a:p>
          <a:p>
            <a:endParaRPr lang="en-US" sz="3200" b="1" dirty="0" smtClean="0">
              <a:solidFill>
                <a:schemeClr val="tx1"/>
              </a:solidFill>
              <a:latin typeface="Times New Roman" panose="02020603050405020304" pitchFamily="18" charset="0"/>
              <a:cs typeface="Times New Roman" panose="02020603050405020304" pitchFamily="18" charset="0"/>
            </a:endParaRPr>
          </a:p>
          <a:p>
            <a:r>
              <a:rPr lang="en-US" sz="3200" b="1" dirty="0" smtClean="0">
                <a:solidFill>
                  <a:schemeClr val="tx1"/>
                </a:solidFill>
                <a:latin typeface="Times New Roman" panose="02020603050405020304" pitchFamily="18" charset="0"/>
                <a:cs typeface="Times New Roman" panose="02020603050405020304" pitchFamily="18" charset="0"/>
              </a:rPr>
              <a:t>Challenge </a:t>
            </a:r>
            <a:r>
              <a:rPr lang="en-US" sz="3200" b="1" dirty="0">
                <a:solidFill>
                  <a:schemeClr val="tx1"/>
                </a:solidFill>
                <a:latin typeface="Times New Roman" panose="02020603050405020304" pitchFamily="18" charset="0"/>
                <a:cs typeface="Times New Roman" panose="02020603050405020304" pitchFamily="18" charset="0"/>
              </a:rPr>
              <a:t>Description</a:t>
            </a:r>
            <a:r>
              <a:rPr lang="en-US" sz="2800" b="1" dirty="0">
                <a:solidFill>
                  <a:schemeClr val="tx1"/>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People want to know weather chances for outdoor plans (vacations, </a:t>
            </a:r>
            <a:r>
              <a:rPr lang="en-US" sz="2000" dirty="0" smtClean="0">
                <a:solidFill>
                  <a:schemeClr val="tx1"/>
                </a:solidFill>
                <a:latin typeface="Times New Roman" panose="02020603050405020304" pitchFamily="18" charset="0"/>
                <a:cs typeface="Times New Roman" panose="02020603050405020304" pitchFamily="18" charset="0"/>
              </a:rPr>
              <a:t>hikes, fishing</a:t>
            </a:r>
            <a:r>
              <a:rPr lang="en-US" sz="2000" dirty="0">
                <a:solidFill>
                  <a:schemeClr val="tx1"/>
                </a:solidFill>
                <a:latin typeface="Times New Roman" panose="02020603050405020304" pitchFamily="18" charset="0"/>
                <a:cs typeface="Times New Roman" panose="02020603050405020304" pitchFamily="18" charset="0"/>
              </a:rPr>
              <a:t>, etc</a:t>
            </a:r>
            <a:r>
              <a:rPr lang="en-US" sz="2000" dirty="0" smtClean="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Instead </a:t>
            </a:r>
            <a:r>
              <a:rPr lang="en-US" sz="2000" dirty="0">
                <a:solidFill>
                  <a:schemeClr val="tx1"/>
                </a:solidFill>
                <a:latin typeface="Times New Roman" panose="02020603050405020304" pitchFamily="18" charset="0"/>
                <a:cs typeface="Times New Roman" panose="02020603050405020304" pitchFamily="18" charset="0"/>
              </a:rPr>
              <a:t>of short-term forecasts, this app uses historical NASA data to show probabilities of certain weather conditions</a:t>
            </a:r>
            <a:r>
              <a:rPr lang="en-US" sz="2000" dirty="0" smtClean="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Helps </a:t>
            </a:r>
            <a:r>
              <a:rPr lang="en-US" sz="2000" dirty="0">
                <a:solidFill>
                  <a:schemeClr val="tx1"/>
                </a:solidFill>
                <a:latin typeface="Times New Roman" panose="02020603050405020304" pitchFamily="18" charset="0"/>
                <a:cs typeface="Times New Roman" panose="02020603050405020304" pitchFamily="18" charset="0"/>
              </a:rPr>
              <a:t>users plan ahead and avoid extreme weather periods</a:t>
            </a:r>
            <a:r>
              <a:rPr lang="en-US" sz="2000" dirty="0" smtClean="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NASA </a:t>
            </a:r>
            <a:r>
              <a:rPr lang="en-US" sz="2000" dirty="0">
                <a:solidFill>
                  <a:schemeClr val="tx1"/>
                </a:solidFill>
                <a:latin typeface="Times New Roman" panose="02020603050405020304" pitchFamily="18" charset="0"/>
                <a:cs typeface="Times New Roman" panose="02020603050405020304" pitchFamily="18" charset="0"/>
              </a:rPr>
              <a:t>provides decades of global data — temperature, rainfall, </a:t>
            </a:r>
            <a:r>
              <a:rPr lang="en-US" sz="2000" dirty="0" smtClean="0">
                <a:solidFill>
                  <a:schemeClr val="tx1"/>
                </a:solidFill>
                <a:latin typeface="Times New Roman" panose="02020603050405020304" pitchFamily="18" charset="0"/>
                <a:cs typeface="Times New Roman" panose="02020603050405020304" pitchFamily="18" charset="0"/>
              </a:rPr>
              <a:t>wind speed, </a:t>
            </a:r>
            <a:r>
              <a:rPr lang="en-US" sz="2000" dirty="0">
                <a:solidFill>
                  <a:schemeClr val="tx1"/>
                </a:solidFill>
                <a:latin typeface="Times New Roman" panose="02020603050405020304" pitchFamily="18" charset="0"/>
                <a:cs typeface="Times New Roman" panose="02020603050405020304" pitchFamily="18" charset="0"/>
              </a:rPr>
              <a:t>dust, snow, cloud cover, etc</a:t>
            </a:r>
            <a:r>
              <a:rPr lang="en-US" sz="2000" dirty="0" smtClean="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Models </a:t>
            </a:r>
            <a:r>
              <a:rPr lang="en-US" sz="2000" dirty="0">
                <a:solidFill>
                  <a:schemeClr val="tx1"/>
                </a:solidFill>
                <a:latin typeface="Times New Roman" panose="02020603050405020304" pitchFamily="18" charset="0"/>
                <a:cs typeface="Times New Roman" panose="02020603050405020304" pitchFamily="18" charset="0"/>
              </a:rPr>
              <a:t>can analyze seasonal patterns and extreme condition </a:t>
            </a:r>
            <a:r>
              <a:rPr lang="en-US" sz="2000" dirty="0" smtClean="0">
                <a:solidFill>
                  <a:schemeClr val="tx1"/>
                </a:solidFill>
                <a:latin typeface="Times New Roman" panose="02020603050405020304" pitchFamily="18" charset="0"/>
                <a:cs typeface="Times New Roman" panose="02020603050405020304" pitchFamily="18" charset="0"/>
              </a:rPr>
              <a:t>probabilities.</a:t>
            </a:r>
          </a:p>
          <a:p>
            <a:pPr algn="ctr"/>
            <a:endParaRPr lang="en-US" sz="2400" dirty="0" smtClean="0">
              <a:solidFill>
                <a:schemeClr val="tx1"/>
              </a:solidFill>
              <a:latin typeface="Times New Roman" panose="02020603050405020304" pitchFamily="18" charset="0"/>
              <a:cs typeface="Times New Roman" panose="02020603050405020304" pitchFamily="18" charset="0"/>
            </a:endParaRPr>
          </a:p>
          <a:p>
            <a:pPr algn="ctr"/>
            <a:endParaRPr lang="en-US" sz="2400" dirty="0" smtClean="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p:txBody>
      </p:sp>
      <p:sp>
        <p:nvSpPr>
          <p:cNvPr id="2" name="Rounded Rectangle 1"/>
          <p:cNvSpPr/>
          <p:nvPr/>
        </p:nvSpPr>
        <p:spPr>
          <a:xfrm>
            <a:off x="37072" y="3701143"/>
            <a:ext cx="12117858" cy="222939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TextBox 4"/>
          <p:cNvSpPr txBox="1"/>
          <p:nvPr/>
        </p:nvSpPr>
        <p:spPr>
          <a:xfrm>
            <a:off x="391887" y="3701143"/>
            <a:ext cx="11408228" cy="1846659"/>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Objective</a:t>
            </a:r>
            <a:r>
              <a:rPr lang="en-US" sz="2400" b="1" dirty="0" smtClean="0">
                <a:latin typeface="Times New Roman" panose="02020603050405020304" pitchFamily="18" charset="0"/>
                <a:cs typeface="Times New Roman" panose="02020603050405020304" pitchFamily="18" charset="0"/>
              </a:rPr>
              <a:t>:</a:t>
            </a:r>
          </a:p>
          <a:p>
            <a:endParaRPr lang="en-US" dirty="0"/>
          </a:p>
          <a:p>
            <a:r>
              <a:rPr lang="en-US" sz="2000" dirty="0">
                <a:latin typeface="Times New Roman" panose="02020603050405020304" pitchFamily="18" charset="0"/>
                <a:cs typeface="Times New Roman" panose="02020603050405020304" pitchFamily="18" charset="0"/>
              </a:rPr>
              <a:t>Develop a personalized app that uses NASA Earth observation data to show the likelihood of “very hot,” “very cold,” “very windy,” “very wet,” or “very uncomfortable” weather for a specific location and time</a:t>
            </a:r>
            <a:r>
              <a:rPr lang="en-US" sz="2000" dirty="0" smtClean="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App can indicate if risks (e.g., heat waves, heavy rain) are increasing over time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97748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91794" y="53903"/>
            <a:ext cx="11969578" cy="657379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p:cNvSpPr txBox="1"/>
          <p:nvPr/>
        </p:nvSpPr>
        <p:spPr>
          <a:xfrm>
            <a:off x="474030" y="432313"/>
            <a:ext cx="11837771" cy="5816977"/>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Challenge Solution</a:t>
            </a:r>
            <a:r>
              <a:rPr lang="en-US" sz="3200" b="1"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Input </a:t>
            </a:r>
            <a:r>
              <a:rPr lang="en-US" sz="2000" b="1" dirty="0" smtClean="0">
                <a:latin typeface="Times New Roman" panose="02020603050405020304" pitchFamily="18" charset="0"/>
                <a:cs typeface="Times New Roman" panose="02020603050405020304" pitchFamily="18" charset="0"/>
              </a:rPr>
              <a:t>Location User </a:t>
            </a:r>
            <a:r>
              <a:rPr lang="en-US" sz="2000" b="1" dirty="0">
                <a:latin typeface="Times New Roman" panose="02020603050405020304" pitchFamily="18" charset="0"/>
                <a:cs typeface="Times New Roman" panose="02020603050405020304" pitchFamily="18" charset="0"/>
              </a:rPr>
              <a:t>selects city / coordinates / pin </a:t>
            </a:r>
            <a:r>
              <a:rPr lang="en-US" sz="2000" b="1" dirty="0" smtClean="0">
                <a:latin typeface="Times New Roman" panose="02020603050405020304" pitchFamily="18" charset="0"/>
                <a:cs typeface="Times New Roman" panose="02020603050405020304" pitchFamily="18" charset="0"/>
              </a:rPr>
              <a:t>drop.</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App </a:t>
            </a:r>
            <a:r>
              <a:rPr lang="en-US" sz="2000" b="1" dirty="0">
                <a:latin typeface="Times New Roman" panose="02020603050405020304" pitchFamily="18" charset="0"/>
                <a:cs typeface="Times New Roman" panose="02020603050405020304" pitchFamily="18" charset="0"/>
              </a:rPr>
              <a:t>fetches NASA microclimate data for that exact point</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Input </a:t>
            </a:r>
            <a:r>
              <a:rPr lang="en-US" sz="2000" b="1" dirty="0" smtClean="0">
                <a:latin typeface="Times New Roman" panose="02020603050405020304" pitchFamily="18" charset="0"/>
                <a:cs typeface="Times New Roman" panose="02020603050405020304" pitchFamily="18" charset="0"/>
              </a:rPr>
              <a:t>Time Choose </a:t>
            </a:r>
            <a:r>
              <a:rPr lang="en-US" sz="2000" b="1" dirty="0">
                <a:latin typeface="Times New Roman" panose="02020603050405020304" pitchFamily="18" charset="0"/>
                <a:cs typeface="Times New Roman" panose="02020603050405020304" pitchFamily="18" charset="0"/>
              </a:rPr>
              <a:t>month, day, or future date</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Analyzes historical weather trends for that specific period</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Show Condition desired </a:t>
            </a:r>
            <a:r>
              <a:rPr lang="en-US" sz="2000" b="1" dirty="0">
                <a:latin typeface="Times New Roman" panose="02020603050405020304" pitchFamily="18" charset="0"/>
                <a:cs typeface="Times New Roman" panose="02020603050405020304" pitchFamily="18" charset="0"/>
              </a:rPr>
              <a:t>parameter: Very Hot / Very Wet / Very Windy / Very Cold</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Output </a:t>
            </a:r>
            <a:r>
              <a:rPr lang="en-US" sz="2000" b="1" dirty="0" smtClean="0">
                <a:latin typeface="Times New Roman" panose="02020603050405020304" pitchFamily="18" charset="0"/>
                <a:cs typeface="Times New Roman" panose="02020603050405020304" pitchFamily="18" charset="0"/>
              </a:rPr>
              <a:t>Probability Displays </a:t>
            </a:r>
            <a:r>
              <a:rPr lang="en-US" sz="2000" b="1" dirty="0">
                <a:latin typeface="Times New Roman" panose="02020603050405020304" pitchFamily="18" charset="0"/>
                <a:cs typeface="Times New Roman" panose="02020603050405020304" pitchFamily="18" charset="0"/>
              </a:rPr>
              <a:t>likelihood (%) of chosen extreme condition</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Based on decades of NASA Earth observation data</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Generate </a:t>
            </a:r>
            <a:r>
              <a:rPr lang="en-US" sz="2000" b="1" dirty="0" smtClean="0">
                <a:latin typeface="Times New Roman" panose="02020603050405020304" pitchFamily="18" charset="0"/>
                <a:cs typeface="Times New Roman" panose="02020603050405020304" pitchFamily="18" charset="0"/>
              </a:rPr>
              <a:t>Results Probability </a:t>
            </a:r>
            <a:r>
              <a:rPr lang="en-US" sz="2000" b="1" dirty="0">
                <a:latin typeface="Times New Roman" panose="02020603050405020304" pitchFamily="18" charset="0"/>
                <a:cs typeface="Times New Roman" panose="02020603050405020304" pitchFamily="18" charset="0"/>
              </a:rPr>
              <a:t>Output: e.g., 60% chance of extreme heat</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Bar Chart: Shows probability for each condition</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Bell Curve: Displays historical temperature distribution</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Export </a:t>
            </a:r>
            <a:r>
              <a:rPr lang="en-US" sz="2000" b="1" dirty="0" smtClean="0">
                <a:latin typeface="Times New Roman" panose="02020603050405020304" pitchFamily="18" charset="0"/>
                <a:cs typeface="Times New Roman" panose="02020603050405020304" pitchFamily="18" charset="0"/>
              </a:rPr>
              <a:t>Report Generates </a:t>
            </a:r>
            <a:r>
              <a:rPr lang="en-US" sz="2000" b="1" dirty="0">
                <a:latin typeface="Times New Roman" panose="02020603050405020304" pitchFamily="18" charset="0"/>
                <a:cs typeface="Times New Roman" panose="02020603050405020304" pitchFamily="18" charset="0"/>
              </a:rPr>
              <a:t>a personalized PDF summary with charts &amp; insights</a:t>
            </a:r>
            <a:r>
              <a:rPr lang="en-US" sz="2000" b="1"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User </a:t>
            </a:r>
            <a:r>
              <a:rPr lang="en-US" sz="2000" b="1" dirty="0">
                <a:latin typeface="Times New Roman" panose="02020603050405020304" pitchFamily="18" charset="0"/>
                <a:cs typeface="Times New Roman" panose="02020603050405020304" pitchFamily="18" charset="0"/>
              </a:rPr>
              <a:t>can download or share the report instantly.</a:t>
            </a:r>
          </a:p>
          <a:p>
            <a:endParaRPr lang="en-US" sz="2000" b="1" dirty="0" smtClean="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955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989" y="78377"/>
            <a:ext cx="5660909" cy="64633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smtClean="0">
                <a:ln>
                  <a:noFill/>
                </a:ln>
                <a:solidFill>
                  <a:prstClr val="black"/>
                </a:solidFill>
                <a:effectLst/>
                <a:uLnTx/>
                <a:uFillTx/>
                <a:latin typeface="Times New Roman" panose="02020603050405020304" pitchFamily="18" charset="0"/>
                <a:ea typeface="ＭＳ Ｐゴシック" pitchFamily="1" charset="-128"/>
                <a:cs typeface="Times New Roman" panose="02020603050405020304" pitchFamily="18" charset="0"/>
              </a:rPr>
              <a:t>TECHNICAL APPROACH</a:t>
            </a:r>
            <a:endParaRPr kumimoji="0" lang="en-IN" sz="1800" b="0" i="0" u="none" strike="noStrike" kern="0" cap="none" spc="0" normalizeH="0" baseline="0" noProof="0" dirty="0" smtClean="0">
              <a:ln>
                <a:noFill/>
              </a:ln>
              <a:solidFill>
                <a:sysClr val="windowText" lastClr="000000"/>
              </a:solidFill>
              <a:effectLst/>
              <a:uLnTx/>
              <a:uFillTx/>
            </a:endParaRPr>
          </a:p>
        </p:txBody>
      </p:sp>
      <p:sp>
        <p:nvSpPr>
          <p:cNvPr id="3" name="Arrow: Pentagon 3">
            <a:extLst>
              <a:ext uri="{FF2B5EF4-FFF2-40B4-BE49-F238E27FC236}">
                <a16:creationId xmlns:a16="http://schemas.microsoft.com/office/drawing/2014/main" xmlns="" id="{12339206-FA07-9635-0038-EB941DC45B14}"/>
              </a:ext>
            </a:extLst>
          </p:cNvPr>
          <p:cNvSpPr/>
          <p:nvPr/>
        </p:nvSpPr>
        <p:spPr>
          <a:xfrm>
            <a:off x="424719" y="954380"/>
            <a:ext cx="1975631" cy="1157412"/>
          </a:xfrm>
          <a:prstGeom prst="homePlate">
            <a:avLst/>
          </a:prstGeom>
          <a:solidFill>
            <a:schemeClr val="accent6">
              <a:lumMod val="20000"/>
              <a:lumOff val="80000"/>
            </a:schemeClr>
          </a:solidFill>
          <a:ln w="9525" cap="flat" cmpd="sng" algn="ctr">
            <a:solidFill>
              <a:schemeClr val="accent6">
                <a:lumMod val="20000"/>
                <a:lumOff val="80000"/>
              </a:schemeClr>
            </a:solidFill>
            <a:prstDash val="solid"/>
          </a:ln>
          <a:effectLst>
            <a:outerShdw blurRad="40000" dist="20000" dir="5400000" rotWithShape="0">
              <a:srgbClr val="000000">
                <a:alpha val="38000"/>
              </a:srgbClr>
            </a:outerShdw>
          </a:effectLst>
        </p:spPr>
        <p:txBody>
          <a:bodyPr lIns="91440" tIns="45720" rIns="91440" bIns="45720"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en-IN" sz="1800" b="1" i="0" u="none" strike="noStrike" kern="0" cap="none" spc="0" normalizeH="0" baseline="0" noProof="0" dirty="0" smtClean="0">
                <a:ln>
                  <a:noFill/>
                </a:ln>
                <a:solidFill>
                  <a:prstClr val="black"/>
                </a:solidFill>
                <a:effectLst/>
                <a:uLnTx/>
                <a:uFillTx/>
                <a:latin typeface="Times New Roman"/>
                <a:ea typeface="+mn-ea"/>
                <a:cs typeface="Times New Roman"/>
              </a:rPr>
              <a:t>Frontend: </a:t>
            </a:r>
            <a:r>
              <a:rPr kumimoji="0" lang="en-IN" sz="2000" b="1" i="0" u="none" strike="noStrike" kern="0" cap="none" spc="0" normalizeH="0" baseline="0" noProof="0" dirty="0" smtClean="0">
                <a:ln>
                  <a:noFill/>
                </a:ln>
                <a:solidFill>
                  <a:prstClr val="black"/>
                </a:solidFill>
                <a:effectLst/>
                <a:uLnTx/>
                <a:uFillTx/>
                <a:latin typeface="Times New Roman"/>
                <a:ea typeface="+mn-ea"/>
                <a:cs typeface="Times New Roman"/>
              </a:rPr>
              <a:t>Flutter</a:t>
            </a:r>
            <a:r>
              <a:rPr kumimoji="0" lang="en-IN" sz="1800" b="1" i="0" u="none" strike="noStrike" kern="0" cap="none" spc="0" normalizeH="0" baseline="0" noProof="0" dirty="0" smtClean="0">
                <a:ln>
                  <a:noFill/>
                </a:ln>
                <a:solidFill>
                  <a:prstClr val="black"/>
                </a:solidFill>
                <a:effectLst/>
                <a:uLnTx/>
                <a:uFillTx/>
                <a:latin typeface="Times New Roman"/>
                <a:ea typeface="+mn-ea"/>
                <a:cs typeface="Times New Roman"/>
              </a:rPr>
              <a:t> (Android + iOS)</a:t>
            </a:r>
            <a:endParaRPr kumimoji="0" lang="en-US" sz="1800" b="1" i="0" u="none" strike="noStrike" kern="0" cap="none" spc="0" normalizeH="0" baseline="0" noProof="0" dirty="0" smtClean="0">
              <a:ln>
                <a:noFill/>
              </a:ln>
              <a:solidFill>
                <a:prstClr val="black"/>
              </a:solidFill>
              <a:effectLst/>
              <a:uLnTx/>
              <a:uFillTx/>
              <a:latin typeface="Times New Roman"/>
              <a:ea typeface="+mn-ea"/>
              <a:cs typeface="Times New Roman"/>
            </a:endParaRPr>
          </a:p>
        </p:txBody>
      </p:sp>
      <p:pic>
        <p:nvPicPr>
          <p:cNvPr id="6" name="Picture 5" descr="A blue and white logo&#10;&#10;AI-generated content may be incorrect.">
            <a:extLst>
              <a:ext uri="{FF2B5EF4-FFF2-40B4-BE49-F238E27FC236}">
                <a16:creationId xmlns:a16="http://schemas.microsoft.com/office/drawing/2014/main" xmlns="" id="{32689FFC-EDC4-EC98-00D2-185DE3BF6762}"/>
              </a:ext>
            </a:extLst>
          </p:cNvPr>
          <p:cNvPicPr>
            <a:picLocks noChangeAspect="1"/>
          </p:cNvPicPr>
          <p:nvPr/>
        </p:nvPicPr>
        <p:blipFill>
          <a:blip r:embed="rId2"/>
          <a:stretch>
            <a:fillRect/>
          </a:stretch>
        </p:blipFill>
        <p:spPr>
          <a:xfrm>
            <a:off x="2668744" y="1104902"/>
            <a:ext cx="1169299" cy="856368"/>
          </a:xfrm>
          <a:prstGeom prst="rect">
            <a:avLst/>
          </a:prstGeom>
        </p:spPr>
      </p:pic>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1" b="3534"/>
          <a:stretch/>
        </p:blipFill>
        <p:spPr>
          <a:xfrm>
            <a:off x="6445036" y="78377"/>
            <a:ext cx="5356257" cy="2931910"/>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13349" y="3010287"/>
            <a:ext cx="4877389" cy="2920977"/>
          </a:xfrm>
          <a:prstGeom prst="rect">
            <a:avLst/>
          </a:prstGeom>
        </p:spPr>
      </p:pic>
      <p:sp>
        <p:nvSpPr>
          <p:cNvPr id="11" name="Arrow: Pentagon 14">
            <a:extLst>
              <a:ext uri="{FF2B5EF4-FFF2-40B4-BE49-F238E27FC236}">
                <a16:creationId xmlns:a16="http://schemas.microsoft.com/office/drawing/2014/main" xmlns="" id="{6EC90DFB-D086-0F09-ED01-33105DA7C092}"/>
              </a:ext>
            </a:extLst>
          </p:cNvPr>
          <p:cNvSpPr/>
          <p:nvPr/>
        </p:nvSpPr>
        <p:spPr>
          <a:xfrm>
            <a:off x="443534" y="2414776"/>
            <a:ext cx="1956816" cy="969264"/>
          </a:xfrm>
          <a:prstGeom prst="homePlate">
            <a:avLst/>
          </a:prstGeom>
          <a:solidFill>
            <a:schemeClr val="accent6">
              <a:lumMod val="20000"/>
              <a:lumOff val="80000"/>
            </a:schemeClr>
          </a:soli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lIns="91440" tIns="45720" rIns="91440" bIns="45720"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IN" sz="1800" b="0" i="0" u="none" strike="noStrike" kern="0" cap="none" spc="0" normalizeH="0" baseline="0" noProof="0" dirty="0" smtClean="0">
              <a:ln>
                <a:noFill/>
              </a:ln>
              <a:solidFill>
                <a:prstClr val="black"/>
              </a:solidFill>
              <a:effectLst/>
              <a:uLnTx/>
              <a:uFillTx/>
              <a:latin typeface="Calibri"/>
              <a:ea typeface="+mn-ea"/>
              <a:cs typeface="+mn-cs"/>
            </a:endParaRPr>
          </a:p>
          <a:p>
            <a:pPr lvl="0" algn="ctr" defTabSz="457200" fontAlgn="base">
              <a:spcBef>
                <a:spcPct val="0"/>
              </a:spcBef>
              <a:spcAft>
                <a:spcPct val="0"/>
              </a:spcAft>
              <a:defRPr/>
            </a:pPr>
            <a:r>
              <a:rPr lang="en-IN" b="1" kern="0" dirty="0" smtClean="0">
                <a:solidFill>
                  <a:prstClr val="black"/>
                </a:solidFill>
                <a:latin typeface="Times New Roman"/>
                <a:cs typeface="Times New Roman"/>
              </a:rPr>
              <a:t>Backend </a:t>
            </a:r>
            <a:r>
              <a:rPr lang="en-IN" b="1" kern="0" dirty="0">
                <a:solidFill>
                  <a:prstClr val="black"/>
                </a:solidFill>
                <a:latin typeface="Times New Roman"/>
                <a:cs typeface="Times New Roman"/>
              </a:rPr>
              <a:t>:Fast </a:t>
            </a:r>
            <a:r>
              <a:rPr lang="en-IN" b="1" kern="0" dirty="0" smtClean="0">
                <a:solidFill>
                  <a:prstClr val="black"/>
                </a:solidFill>
                <a:latin typeface="Times New Roman"/>
                <a:cs typeface="Times New Roman"/>
              </a:rPr>
              <a:t>API,Pydantic</a:t>
            </a:r>
          </a:p>
          <a:p>
            <a:pPr lvl="0" algn="ctr" defTabSz="457200" fontAlgn="base">
              <a:spcBef>
                <a:spcPct val="0"/>
              </a:spcBef>
              <a:spcAft>
                <a:spcPct val="0"/>
              </a:spcAft>
              <a:defRPr/>
            </a:pPr>
            <a:r>
              <a:rPr lang="en-IN" b="1" kern="0" dirty="0" smtClean="0">
                <a:solidFill>
                  <a:prstClr val="black"/>
                </a:solidFill>
                <a:latin typeface="Times New Roman"/>
                <a:cs typeface="Times New Roman"/>
              </a:rPr>
              <a:t>(Python</a:t>
            </a:r>
            <a:r>
              <a:rPr lang="en-IN" b="1" kern="0" dirty="0">
                <a:solidFill>
                  <a:prstClr val="black"/>
                </a:solidFill>
                <a:latin typeface="Times New Roman"/>
                <a:cs typeface="Times New Roman"/>
              </a:rPr>
              <a:t>)</a:t>
            </a:r>
            <a:r>
              <a:rPr kumimoji="0" lang="en-IN" sz="1800" b="1" i="0" u="none" strike="noStrike" kern="0" cap="none" spc="0" normalizeH="0" baseline="0" noProof="0" dirty="0" smtClean="0">
                <a:ln>
                  <a:noFill/>
                </a:ln>
                <a:solidFill>
                  <a:prstClr val="black"/>
                </a:solidFill>
                <a:effectLst/>
                <a:uLnTx/>
                <a:uFillTx/>
                <a:latin typeface="Times New Roman"/>
                <a:ea typeface="+mn-ea"/>
                <a:cs typeface="Times New Roman"/>
              </a:rPr>
              <a:t> </a:t>
            </a:r>
            <a:endParaRPr kumimoji="0" lang="en-IN" sz="1800" b="1" i="0" u="none" strike="noStrike" kern="0" cap="none" spc="0" normalizeH="0" baseline="0" noProof="0" dirty="0" smtClean="0">
              <a:ln>
                <a:noFill/>
              </a:ln>
              <a:solidFill>
                <a:prstClr val="black"/>
              </a:solidFill>
              <a:effectLst/>
              <a:uLnTx/>
              <a:uFillTx/>
              <a:latin typeface="Times New Roman"/>
              <a:ea typeface="Calibri"/>
              <a:cs typeface="Times New Roman"/>
            </a:endParaRPr>
          </a:p>
          <a:p>
            <a:pPr marL="0" marR="0" lvl="0" indent="0" algn="ctr" defTabSz="457200" eaLnBrk="1" fontAlgn="base" latinLnBrk="0" hangingPunct="1">
              <a:lnSpc>
                <a:spcPct val="100000"/>
              </a:lnSpc>
              <a:spcBef>
                <a:spcPct val="0"/>
              </a:spcBef>
              <a:spcAft>
                <a:spcPct val="0"/>
              </a:spcAft>
              <a:buClrTx/>
              <a:buSzTx/>
              <a:buFontTx/>
              <a:buNone/>
              <a:tabLst/>
              <a:defRPr/>
            </a:pPr>
            <a:r>
              <a:rPr kumimoji="0" lang="en-IN" sz="1800" b="0" i="0" u="none" strike="noStrike" kern="0" cap="none" spc="0" normalizeH="0" baseline="0" noProof="0" dirty="0" smtClean="0">
                <a:ln>
                  <a:noFill/>
                </a:ln>
                <a:solidFill>
                  <a:prstClr val="black"/>
                </a:solidFill>
                <a:effectLst/>
                <a:uLnTx/>
                <a:uFillTx/>
                <a:latin typeface="Calibri"/>
                <a:ea typeface="+mn-ea"/>
                <a:cs typeface="+mn-cs"/>
              </a:rPr>
              <a:t> </a:t>
            </a:r>
            <a:endParaRPr kumimoji="0" lang="en-US" sz="1800" b="0" i="0" u="none" strike="noStrike" kern="0" cap="none" spc="0" normalizeH="0" baseline="0" noProof="0" dirty="0" smtClean="0">
              <a:ln>
                <a:noFill/>
              </a:ln>
              <a:solidFill>
                <a:prstClr val="black"/>
              </a:solidFill>
              <a:effectLst/>
              <a:uLnTx/>
              <a:uFillTx/>
              <a:latin typeface="Calibri"/>
              <a:ea typeface="+mn-ea"/>
              <a:cs typeface="+mn-cs"/>
            </a:endParaRPr>
          </a:p>
        </p:txBody>
      </p:sp>
      <p:sp>
        <p:nvSpPr>
          <p:cNvPr id="14" name="Arrow: Pentagon 19">
            <a:extLst>
              <a:ext uri="{FF2B5EF4-FFF2-40B4-BE49-F238E27FC236}">
                <a16:creationId xmlns:a16="http://schemas.microsoft.com/office/drawing/2014/main" xmlns="" id="{F9B5FFBF-35E4-D5ED-ABF5-C1A57604C94C}"/>
              </a:ext>
            </a:extLst>
          </p:cNvPr>
          <p:cNvSpPr/>
          <p:nvPr/>
        </p:nvSpPr>
        <p:spPr>
          <a:xfrm>
            <a:off x="443534" y="3687023"/>
            <a:ext cx="1956816" cy="1138793"/>
          </a:xfrm>
          <a:prstGeom prst="homePlate">
            <a:avLst/>
          </a:prstGeom>
          <a:solidFill>
            <a:schemeClr val="accent6">
              <a:lumMod val="20000"/>
              <a:lumOff val="80000"/>
            </a:schemeClr>
          </a:soli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lIns="91440" tIns="45720" rIns="91440" bIns="45720"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lang="en-IN" b="1" kern="0" dirty="0" smtClean="0">
                <a:solidFill>
                  <a:prstClr val="black"/>
                </a:solidFill>
                <a:latin typeface="Times New Roman"/>
                <a:cs typeface="Times New Roman"/>
              </a:rPr>
              <a:t>weather forecast</a:t>
            </a:r>
            <a:r>
              <a:rPr kumimoji="0" lang="en-IN" sz="1800" b="1" i="0" u="none" strike="noStrike" kern="0" cap="none" spc="0" normalizeH="0" baseline="0" noProof="0" dirty="0" smtClean="0">
                <a:ln>
                  <a:noFill/>
                </a:ln>
                <a:solidFill>
                  <a:prstClr val="black"/>
                </a:solidFill>
                <a:effectLst/>
                <a:uLnTx/>
                <a:uFillTx/>
                <a:latin typeface="Times New Roman"/>
                <a:ea typeface="+mn-ea"/>
                <a:cs typeface="Times New Roman"/>
              </a:rPr>
              <a:t>: </a:t>
            </a:r>
          </a:p>
          <a:p>
            <a:pPr marL="0" marR="0" lvl="0" indent="0" algn="ctr" defTabSz="457200" eaLnBrk="1" fontAlgn="base" latinLnBrk="0" hangingPunct="1">
              <a:lnSpc>
                <a:spcPct val="100000"/>
              </a:lnSpc>
              <a:spcBef>
                <a:spcPct val="0"/>
              </a:spcBef>
              <a:spcAft>
                <a:spcPct val="0"/>
              </a:spcAft>
              <a:buClrTx/>
              <a:buSzTx/>
              <a:buFontTx/>
              <a:buNone/>
              <a:tabLst/>
              <a:defRPr/>
            </a:pPr>
            <a:r>
              <a:rPr kumimoji="0" lang="en-IN" sz="1800" b="1" i="0" u="none" strike="noStrike" kern="0" cap="none" spc="0" normalizeH="0" baseline="0" noProof="0" dirty="0" smtClean="0">
                <a:ln>
                  <a:noFill/>
                </a:ln>
                <a:solidFill>
                  <a:prstClr val="black"/>
                </a:solidFill>
                <a:effectLst/>
                <a:uLnTx/>
                <a:uFillTx/>
                <a:latin typeface="Times New Roman"/>
                <a:ea typeface="+mn-ea"/>
                <a:cs typeface="Times New Roman"/>
              </a:rPr>
              <a:t>NASA earth observation</a:t>
            </a:r>
            <a:endParaRPr kumimoji="0" lang="en-US" sz="1800" b="1" i="0" u="none" strike="noStrike" kern="0" cap="none" spc="0" normalizeH="0" baseline="0" noProof="0" dirty="0" smtClean="0">
              <a:ln>
                <a:noFill/>
              </a:ln>
              <a:solidFill>
                <a:prstClr val="black"/>
              </a:solidFill>
              <a:effectLst/>
              <a:uLnTx/>
              <a:uFillTx/>
              <a:latin typeface="Times New Roman"/>
              <a:ea typeface="+mn-ea"/>
              <a:cs typeface="Times New Roman"/>
            </a:endParaRPr>
          </a:p>
        </p:txBody>
      </p:sp>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5443" y="3517495"/>
            <a:ext cx="1308322" cy="1308322"/>
          </a:xfrm>
          <a:prstGeom prst="rect">
            <a:avLst/>
          </a:prstGeom>
        </p:spPr>
      </p:pic>
      <p:sp>
        <p:nvSpPr>
          <p:cNvPr id="4" name="Pentagon 3"/>
          <p:cNvSpPr/>
          <p:nvPr/>
        </p:nvSpPr>
        <p:spPr>
          <a:xfrm>
            <a:off x="443534" y="5128799"/>
            <a:ext cx="1975631" cy="1175657"/>
          </a:xfrm>
          <a:prstGeom prst="homePlat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latin typeface="Times New Roman" panose="02020603050405020304" pitchFamily="18" charset="0"/>
                <a:cs typeface="Times New Roman" panose="02020603050405020304" pitchFamily="18" charset="0"/>
              </a:rPr>
              <a:t>Live location for weather:</a:t>
            </a:r>
          </a:p>
          <a:p>
            <a:pPr algn="ctr"/>
            <a:r>
              <a:rPr lang="en-IN" b="1" dirty="0" smtClean="0">
                <a:solidFill>
                  <a:schemeClr val="tx1"/>
                </a:solidFill>
                <a:latin typeface="Times New Roman" panose="02020603050405020304" pitchFamily="18" charset="0"/>
                <a:cs typeface="Times New Roman" panose="02020603050405020304" pitchFamily="18" charset="0"/>
              </a:rPr>
              <a:t>Giovanni</a:t>
            </a:r>
          </a:p>
        </p:txBody>
      </p:sp>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56510" y="5333634"/>
            <a:ext cx="906187" cy="801919"/>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72751" y="2517408"/>
            <a:ext cx="2990955" cy="815715"/>
          </a:xfrm>
          <a:prstGeom prst="rect">
            <a:avLst/>
          </a:prstGeom>
        </p:spPr>
      </p:pic>
    </p:spTree>
    <p:extLst>
      <p:ext uri="{BB962C8B-B14F-4D97-AF65-F5344CB8AC3E}">
        <p14:creationId xmlns:p14="http://schemas.microsoft.com/office/powerpoint/2010/main" val="20127753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5300" y="109248"/>
            <a:ext cx="4915513" cy="584775"/>
          </a:xfrm>
          <a:prstGeom prst="rect">
            <a:avLst/>
          </a:prstGeom>
        </p:spPr>
        <p:txBody>
          <a:bodyPr wrap="none">
            <a:spAutoFit/>
          </a:bodyPr>
          <a:lstStyle/>
          <a:p>
            <a:r>
              <a:rPr lang="en-US" sz="3200" b="1" dirty="0">
                <a:latin typeface="Times New Roman" panose="02020603050405020304" pitchFamily="18" charset="0"/>
                <a:ea typeface="ＭＳ Ｐゴシック" pitchFamily="1" charset="-128"/>
                <a:cs typeface="Times New Roman" panose="02020603050405020304" pitchFamily="18" charset="0"/>
              </a:rPr>
              <a:t>IMPACT AND BENEFITS</a:t>
            </a:r>
            <a:endParaRPr lang="en-IN" sz="3200" dirty="0"/>
          </a:p>
        </p:txBody>
      </p:sp>
      <p:graphicFrame>
        <p:nvGraphicFramePr>
          <p:cNvPr id="20" name="Diagram 19"/>
          <p:cNvGraphicFramePr/>
          <p:nvPr>
            <p:extLst>
              <p:ext uri="{D42A27DB-BD31-4B8C-83A1-F6EECF244321}">
                <p14:modId xmlns:p14="http://schemas.microsoft.com/office/powerpoint/2010/main" val="2341967197"/>
              </p:ext>
            </p:extLst>
          </p:nvPr>
        </p:nvGraphicFramePr>
        <p:xfrm>
          <a:off x="-252944" y="807234"/>
          <a:ext cx="6096000" cy="5846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2" name="Diagram 21"/>
          <p:cNvGraphicFramePr/>
          <p:nvPr>
            <p:extLst>
              <p:ext uri="{D42A27DB-BD31-4B8C-83A1-F6EECF244321}">
                <p14:modId xmlns:p14="http://schemas.microsoft.com/office/powerpoint/2010/main" val="3558395096"/>
              </p:ext>
            </p:extLst>
          </p:nvPr>
        </p:nvGraphicFramePr>
        <p:xfrm>
          <a:off x="5573486" y="750628"/>
          <a:ext cx="6096000" cy="595932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65969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78331" y="3175503"/>
            <a:ext cx="6688183" cy="646331"/>
          </a:xfrm>
          <a:prstGeom prst="rect">
            <a:avLst/>
          </a:prstGeom>
        </p:spPr>
        <p:txBody>
          <a:bodyPr wrap="square">
            <a:spAutoFit/>
          </a:bodyPr>
          <a:lstStyle/>
          <a:p>
            <a:r>
              <a:rPr lang="en-IN" dirty="0">
                <a:hlinkClick r:id="rId2"/>
              </a:rPr>
              <a:t>https://</a:t>
            </a:r>
            <a:r>
              <a:rPr lang="en-IN" dirty="0" smtClean="0">
                <a:hlinkClick r:id="rId2"/>
              </a:rPr>
              <a:t>drive.google.com/file/d/1jQp9_JZnfU6JDFzegSUMXNCRKRhQ_h3V/view?usp=sharing</a:t>
            </a:r>
            <a:r>
              <a:rPr lang="en-IN" dirty="0" smtClean="0"/>
              <a:t> – screen recorder of our app </a:t>
            </a:r>
            <a:endParaRPr lang="en-IN" dirty="0"/>
          </a:p>
        </p:txBody>
      </p:sp>
    </p:spTree>
    <p:extLst>
      <p:ext uri="{BB962C8B-B14F-4D97-AF65-F5344CB8AC3E}">
        <p14:creationId xmlns:p14="http://schemas.microsoft.com/office/powerpoint/2010/main" val="3349069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 y="671691"/>
            <a:ext cx="12131040" cy="5632311"/>
          </a:xfrm>
          <a:prstGeom prst="rect">
            <a:avLst/>
          </a:prstGeom>
        </p:spPr>
        <p:txBody>
          <a:bodyPr wrap="square">
            <a:spAutoFit/>
          </a:bodyPr>
          <a:lstStyle/>
          <a:p>
            <a:r>
              <a:rPr lang="en-US" b="1" u="sng" dirty="0">
                <a:latin typeface="Times New Roman" panose="02020603050405020304" pitchFamily="18" charset="0"/>
                <a:cs typeface="Times New Roman" panose="02020603050405020304" pitchFamily="18" charset="0"/>
                <a:hlinkClick r:id="rId2"/>
              </a:rPr>
              <a:t>GES DISC OPeNDAP server (Hyrax)</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Goddard Earth Sciences Data and Information Services Center (GES DISC) Open-source Project for a Network Data Access Protocol (OPeNDAP) server provides access to many different data variables and provides an interface for data acquisition and sub setting.</a:t>
            </a:r>
          </a:p>
          <a:p>
            <a:r>
              <a:rPr lang="en-US" b="1" u="sng" dirty="0">
                <a:latin typeface="Times New Roman" panose="02020603050405020304" pitchFamily="18" charset="0"/>
                <a:cs typeface="Times New Roman" panose="02020603050405020304" pitchFamily="18" charset="0"/>
                <a:hlinkClick r:id="rId3"/>
              </a:rPr>
              <a:t>Giovanni</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Giovanni provides access to multiple datasets and variables, and provides output in data maps and time-series.</a:t>
            </a:r>
          </a:p>
          <a:p>
            <a:r>
              <a:rPr lang="en-US" b="1" u="sng" dirty="0">
                <a:latin typeface="Times New Roman" panose="02020603050405020304" pitchFamily="18" charset="0"/>
                <a:cs typeface="Times New Roman" panose="02020603050405020304" pitchFamily="18" charset="0"/>
                <a:hlinkClick r:id="rId4"/>
              </a:rPr>
              <a:t>Data Rods for Hydrology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Data Rods for Hydrology provides several different hydrological variables and will display time series for a specific location.</a:t>
            </a:r>
          </a:p>
          <a:p>
            <a:r>
              <a:rPr lang="en-US" b="1" u="sng" dirty="0">
                <a:latin typeface="Times New Roman" panose="02020603050405020304" pitchFamily="18" charset="0"/>
                <a:cs typeface="Times New Roman" panose="02020603050405020304" pitchFamily="18" charset="0"/>
                <a:hlinkClick r:id="rId5"/>
              </a:rPr>
              <a:t>Worldview</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Worldview provides imagery and data links for numerous variables of interest.</a:t>
            </a:r>
          </a:p>
          <a:p>
            <a:r>
              <a:rPr lang="en-US" b="1" u="sng" dirty="0">
                <a:latin typeface="Times New Roman" panose="02020603050405020304" pitchFamily="18" charset="0"/>
                <a:cs typeface="Times New Roman" panose="02020603050405020304" pitchFamily="18" charset="0"/>
                <a:hlinkClick r:id="rId6"/>
              </a:rPr>
              <a:t>Earth data Search</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Earth data search provides an interface to search for and access data from all NASA Earth science data centers. The data can be filtered by keywords, processing level, data formats etc.</a:t>
            </a:r>
          </a:p>
          <a:p>
            <a:r>
              <a:rPr lang="en-US" b="1" u="sng" dirty="0">
                <a:latin typeface="Times New Roman" panose="02020603050405020304" pitchFamily="18" charset="0"/>
                <a:cs typeface="Times New Roman" panose="02020603050405020304" pitchFamily="18" charset="0"/>
                <a:hlinkClick r:id="rId7"/>
              </a:rPr>
              <a:t>Data access Tutorials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These tutorials provide step-by-step instructions on how to find, request, download, and open data files from NASA data center archives. These tutorials are provided in Jupiter Notebooks, which can be directly downloaded from the page or opened in the GitHub environment.</a:t>
            </a:r>
          </a:p>
          <a:p>
            <a:r>
              <a:rPr lang="en-US" b="1" cap="all" dirty="0">
                <a:latin typeface="Times New Roman" panose="02020603050405020304" pitchFamily="18" charset="0"/>
                <a:cs typeface="Times New Roman" panose="02020603050405020304" pitchFamily="18" charset="0"/>
              </a:rPr>
              <a:t>Space Agency Partner Resources</a:t>
            </a:r>
          </a:p>
          <a:p>
            <a:r>
              <a:rPr lang="en-US" b="1" dirty="0">
                <a:latin typeface="Times New Roman" panose="02020603050405020304" pitchFamily="18" charset="0"/>
                <a:cs typeface="Times New Roman" panose="02020603050405020304" pitchFamily="18" charset="0"/>
              </a:rPr>
              <a:t>Brazilian Space Agency (AEB)</a:t>
            </a:r>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hlinkClick r:id="rId8"/>
              </a:rPr>
              <a:t>Center for Weather Forecast and Climate Studies (CPTEC) at the Brazilian National Institute for Space Exploration (INPE)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Center for Weather Forecast and Climate Studies (CPTEC) provides high-resolution weather forecasts, climate monitoring, and environmental modeling for Brazil and South America. Using advanced numerical models and satellite data, CPTEC generates short to long-term forecasts, severe weather alerts, and climate trend analyses. Its platform offers public access to dynamic maps, time series, and predictive simulations, supporting sectors such as agriculture, civil defense, and energy planning. All information is continuously updated and available through interactive tools for data exploration and visualization.</a:t>
            </a:r>
          </a:p>
        </p:txBody>
      </p:sp>
      <p:pic>
        <p:nvPicPr>
          <p:cNvPr id="3" name="Picture 2"/>
          <p:cNvPicPr>
            <a:picLocks noChangeAspect="1"/>
          </p:cNvPicPr>
          <p:nvPr/>
        </p:nvPicPr>
        <p:blipFill>
          <a:blip r:embed="rId9"/>
          <a:stretch>
            <a:fillRect/>
          </a:stretch>
        </p:blipFill>
        <p:spPr>
          <a:xfrm>
            <a:off x="1820348" y="-100626"/>
            <a:ext cx="7474344" cy="963251"/>
          </a:xfrm>
          <a:prstGeom prst="rect">
            <a:avLst/>
          </a:prstGeom>
        </p:spPr>
      </p:pic>
    </p:spTree>
    <p:extLst>
      <p:ext uri="{BB962C8B-B14F-4D97-AF65-F5344CB8AC3E}">
        <p14:creationId xmlns:p14="http://schemas.microsoft.com/office/powerpoint/2010/main" val="23748995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417</TotalTime>
  <Words>335</Words>
  <Application>Microsoft Office PowerPoint</Application>
  <PresentationFormat>Widescreen</PresentationFormat>
  <Paragraphs>72</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ＭＳ Ｐゴシック</vt:lpstr>
      <vt:lpstr>Aptos</vt:lpstr>
      <vt:lpstr>Aptos Display</vt:lpstr>
      <vt:lpstr>Arial</vt:lpstr>
      <vt:lpstr>Calibri</vt:lpstr>
      <vt:lpstr>Times New Roman</vt:lpstr>
      <vt:lpstr>office theme</vt:lpstr>
      <vt:lpstr>                          NASA SPACE APP CHALLENGE 2025  Challenge-Will it Rain on my parade?       Subjects-Coding,  Data Analysis , Data visualization  ,                            Forecast, Software, Weather ,Web Development       Team Name- Team Coders  App Name- orbitWx(plan your day with confidence.)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NASA SPACE APP CHALLENGE 2025  Challenge-Will it Rain on my parade?       Subjects-Coding, DataAnalysis , Datavisualization ,Forecast,                      Software, Weather ,Web Development       Team Name-</dc:title>
  <dc:creator>Prit Patel</dc:creator>
  <cp:lastModifiedBy>Prit Patel</cp:lastModifiedBy>
  <cp:revision>547</cp:revision>
  <dcterms:created xsi:type="dcterms:W3CDTF">2025-10-03T17:43:00Z</dcterms:created>
  <dcterms:modified xsi:type="dcterms:W3CDTF">2025-10-05T14:08:14Z</dcterms:modified>
</cp:coreProperties>
</file>